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7" r:id="rId2"/>
    <p:sldId id="296" r:id="rId3"/>
    <p:sldId id="260" r:id="rId4"/>
    <p:sldId id="297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50" r:id="rId19"/>
    <p:sldId id="344" r:id="rId20"/>
    <p:sldId id="345" r:id="rId21"/>
    <p:sldId id="346" r:id="rId22"/>
    <p:sldId id="347" r:id="rId23"/>
    <p:sldId id="349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279" r:id="rId32"/>
    <p:sldId id="281" r:id="rId33"/>
  </p:sldIdLst>
  <p:sldSz cx="18288000" cy="10287000"/>
  <p:notesSz cx="6858000" cy="9144000"/>
  <p:embeddedFontLst>
    <p:embeddedFont>
      <p:font typeface="Montserrat" panose="020B0604020202020204" charset="0"/>
      <p:regular r:id="rId35"/>
      <p:bold r:id="rId36"/>
      <p:italic r:id="rId37"/>
      <p:boldItalic r:id="rId38"/>
    </p:embeddedFont>
    <p:embeddedFont>
      <p:font typeface="Raleway" panose="020B0604020202020204" charset="0"/>
      <p:regular r:id="rId39"/>
      <p:bold r:id="rId40"/>
      <p:italic r:id="rId41"/>
      <p:boldItalic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Montserrat Classic" panose="020B0604020202020204" charset="0"/>
      <p:regular r:id="rId47"/>
    </p:embeddedFont>
    <p:embeddedFont>
      <p:font typeface="Montserrat Classic Bold" panose="020B0604020202020204" charset="0"/>
      <p:regular r:id="rId48"/>
    </p:embeddedFont>
    <p:embeddedFont>
      <p:font typeface="Open Sans Extra Bold" panose="020B0604020202020204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77C"/>
    <a:srgbClr val="60A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400" autoAdjust="0"/>
  </p:normalViewPr>
  <p:slideViewPr>
    <p:cSldViewPr>
      <p:cViewPr>
        <p:scale>
          <a:sx n="75" d="100"/>
          <a:sy n="75" d="100"/>
        </p:scale>
        <p:origin x="510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2611BB-F0B8-4046-BA3F-C639490C189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3B436B-AF58-495D-8E1A-7D38E829EF31}">
      <dgm:prSet phldrT="[Text]"/>
      <dgm:spPr/>
      <dgm:t>
        <a:bodyPr/>
        <a:lstStyle/>
        <a:p>
          <a:r>
            <a:rPr lang="en-US" dirty="0" err="1" smtClean="0"/>
            <a:t>Jumlah</a:t>
          </a:r>
          <a:r>
            <a:rPr lang="en-US" dirty="0" smtClean="0"/>
            <a:t> </a:t>
          </a:r>
          <a:r>
            <a:rPr lang="en-US" dirty="0" err="1" smtClean="0"/>
            <a:t>Tetangga</a:t>
          </a:r>
          <a:r>
            <a:rPr lang="en-US" dirty="0" smtClean="0"/>
            <a:t> (K)</a:t>
          </a:r>
          <a:endParaRPr lang="en-US" dirty="0"/>
        </a:p>
      </dgm:t>
    </dgm:pt>
    <dgm:pt modelId="{1DA381E4-E8E4-4188-8063-5B2A7F454E97}" type="parTrans" cxnId="{9A5A5EC1-5397-4E39-AC39-E4668676DF93}">
      <dgm:prSet/>
      <dgm:spPr/>
      <dgm:t>
        <a:bodyPr/>
        <a:lstStyle/>
        <a:p>
          <a:endParaRPr lang="en-US"/>
        </a:p>
      </dgm:t>
    </dgm:pt>
    <dgm:pt modelId="{1E47D17E-D8FB-4719-922F-9B43E5DEFAC8}" type="sibTrans" cxnId="{9A5A5EC1-5397-4E39-AC39-E4668676DF93}">
      <dgm:prSet/>
      <dgm:spPr/>
      <dgm:t>
        <a:bodyPr/>
        <a:lstStyle/>
        <a:p>
          <a:endParaRPr lang="en-US"/>
        </a:p>
      </dgm:t>
    </dgm:pt>
    <dgm:pt modelId="{B921460D-A1CF-4238-8857-13EA28352787}">
      <dgm:prSet phldrT="[Text]"/>
      <dgm:spPr/>
      <dgm:t>
        <a:bodyPr/>
        <a:lstStyle/>
        <a:p>
          <a:r>
            <a:rPr lang="en-US" dirty="0" smtClean="0"/>
            <a:t>Metric </a:t>
          </a:r>
          <a:r>
            <a:rPr lang="en-US" dirty="0" err="1" smtClean="0"/>
            <a:t>Jarak</a:t>
          </a:r>
          <a:endParaRPr lang="en-US" dirty="0"/>
        </a:p>
      </dgm:t>
    </dgm:pt>
    <dgm:pt modelId="{238360DD-19B3-4A4E-8067-B5477C1E0A75}" type="parTrans" cxnId="{63F63E7F-68B4-48FC-9450-32F3C91B4038}">
      <dgm:prSet/>
      <dgm:spPr/>
      <dgm:t>
        <a:bodyPr/>
        <a:lstStyle/>
        <a:p>
          <a:endParaRPr lang="en-US"/>
        </a:p>
      </dgm:t>
    </dgm:pt>
    <dgm:pt modelId="{6C103315-C03B-42FA-BCEF-CC575F911734}" type="sibTrans" cxnId="{63F63E7F-68B4-48FC-9450-32F3C91B4038}">
      <dgm:prSet/>
      <dgm:spPr/>
      <dgm:t>
        <a:bodyPr/>
        <a:lstStyle/>
        <a:p>
          <a:endParaRPr lang="en-US"/>
        </a:p>
      </dgm:t>
    </dgm:pt>
    <dgm:pt modelId="{C664685D-1726-44FF-B633-B1BAFD02F327}">
      <dgm:prSet phldrT="[Text]"/>
      <dgm:spPr/>
      <dgm:t>
        <a:bodyPr/>
        <a:lstStyle/>
        <a:p>
          <a:r>
            <a:rPr lang="en-US" dirty="0" err="1" smtClean="0"/>
            <a:t>Algoritma</a:t>
          </a:r>
          <a:r>
            <a:rPr lang="en-US" dirty="0" smtClean="0"/>
            <a:t> </a:t>
          </a:r>
          <a:r>
            <a:rPr lang="en-US" dirty="0" err="1" smtClean="0"/>
            <a:t>Pencarian</a:t>
          </a:r>
          <a:r>
            <a:rPr lang="en-US" dirty="0" smtClean="0"/>
            <a:t> </a:t>
          </a:r>
          <a:r>
            <a:rPr lang="en-US" dirty="0" err="1" smtClean="0"/>
            <a:t>Tetangga</a:t>
          </a:r>
          <a:endParaRPr lang="en-US" dirty="0"/>
        </a:p>
      </dgm:t>
    </dgm:pt>
    <dgm:pt modelId="{E639DBEA-603B-4E48-9BA5-60D1FCA6BC53}" type="parTrans" cxnId="{EAAE290D-8034-4F67-BEE0-AAAA5F2E3FF3}">
      <dgm:prSet/>
      <dgm:spPr/>
      <dgm:t>
        <a:bodyPr/>
        <a:lstStyle/>
        <a:p>
          <a:endParaRPr lang="en-US"/>
        </a:p>
      </dgm:t>
    </dgm:pt>
    <dgm:pt modelId="{1D65ECF9-7F8A-4B08-BC24-F5DA5DBEA72B}" type="sibTrans" cxnId="{EAAE290D-8034-4F67-BEE0-AAAA5F2E3FF3}">
      <dgm:prSet/>
      <dgm:spPr/>
      <dgm:t>
        <a:bodyPr/>
        <a:lstStyle/>
        <a:p>
          <a:endParaRPr lang="en-US"/>
        </a:p>
      </dgm:t>
    </dgm:pt>
    <dgm:pt modelId="{2B44399B-0C40-40BF-80CF-59973147965F}">
      <dgm:prSet phldrT="[Text]"/>
      <dgm:spPr/>
      <dgm:t>
        <a:bodyPr/>
        <a:lstStyle/>
        <a:p>
          <a:r>
            <a:rPr lang="en-US" dirty="0" err="1" smtClean="0"/>
            <a:t>Bobot</a:t>
          </a:r>
          <a:r>
            <a:rPr lang="en-US" dirty="0" smtClean="0"/>
            <a:t> (Weights)</a:t>
          </a:r>
          <a:endParaRPr lang="en-US" dirty="0"/>
        </a:p>
      </dgm:t>
    </dgm:pt>
    <dgm:pt modelId="{CD4FAAC1-B826-44F5-9735-DD82021E9859}" type="parTrans" cxnId="{DEABA353-1410-4BCB-A03C-D097BBC2C009}">
      <dgm:prSet/>
      <dgm:spPr/>
      <dgm:t>
        <a:bodyPr/>
        <a:lstStyle/>
        <a:p>
          <a:endParaRPr lang="en-US"/>
        </a:p>
      </dgm:t>
    </dgm:pt>
    <dgm:pt modelId="{41754638-C165-4523-A1BB-3DD8DC7CA547}" type="sibTrans" cxnId="{DEABA353-1410-4BCB-A03C-D097BBC2C009}">
      <dgm:prSet/>
      <dgm:spPr/>
      <dgm:t>
        <a:bodyPr/>
        <a:lstStyle/>
        <a:p>
          <a:endParaRPr lang="en-US"/>
        </a:p>
      </dgm:t>
    </dgm:pt>
    <dgm:pt modelId="{B7F3F1FC-9E9A-43F9-9663-1D15415337D8}">
      <dgm:prSet phldrT="[Text]"/>
      <dgm:spPr/>
      <dgm:t>
        <a:bodyPr/>
        <a:lstStyle/>
        <a:p>
          <a:r>
            <a:rPr lang="en-US" dirty="0" err="1" smtClean="0"/>
            <a:t>Panjang</a:t>
          </a:r>
          <a:r>
            <a:rPr lang="en-US" dirty="0" smtClean="0"/>
            <a:t> </a:t>
          </a:r>
          <a:r>
            <a:rPr lang="en-US" dirty="0" err="1" smtClean="0"/>
            <a:t>Jarak</a:t>
          </a:r>
          <a:r>
            <a:rPr lang="en-US" dirty="0" smtClean="0"/>
            <a:t> (Distance Metric Parameters)</a:t>
          </a:r>
          <a:endParaRPr lang="en-US" dirty="0"/>
        </a:p>
      </dgm:t>
    </dgm:pt>
    <dgm:pt modelId="{407B8B2B-7AE5-40D3-A0E3-6395C327DFD5}" type="parTrans" cxnId="{9077C1DE-5AF5-40EA-8E05-CA93FF61D7BE}">
      <dgm:prSet/>
      <dgm:spPr/>
      <dgm:t>
        <a:bodyPr/>
        <a:lstStyle/>
        <a:p>
          <a:endParaRPr lang="en-US"/>
        </a:p>
      </dgm:t>
    </dgm:pt>
    <dgm:pt modelId="{212C8253-0D23-4B01-BE65-E757F05F8509}" type="sibTrans" cxnId="{9077C1DE-5AF5-40EA-8E05-CA93FF61D7BE}">
      <dgm:prSet/>
      <dgm:spPr/>
      <dgm:t>
        <a:bodyPr/>
        <a:lstStyle/>
        <a:p>
          <a:endParaRPr lang="en-US"/>
        </a:p>
      </dgm:t>
    </dgm:pt>
    <dgm:pt modelId="{432FBCCD-FBBE-41AD-AC52-47956692F25E}">
      <dgm:prSet phldrT="[Text]"/>
      <dgm:spPr/>
      <dgm:t>
        <a:bodyPr/>
        <a:lstStyle/>
        <a:p>
          <a:r>
            <a:rPr lang="en-US" dirty="0" err="1" smtClean="0"/>
            <a:t>Normalisasi</a:t>
          </a:r>
          <a:r>
            <a:rPr lang="en-US" dirty="0" smtClean="0"/>
            <a:t> Data</a:t>
          </a:r>
          <a:endParaRPr lang="en-US" dirty="0"/>
        </a:p>
      </dgm:t>
    </dgm:pt>
    <dgm:pt modelId="{7783A7F0-371C-475A-9212-5B7348FE9ECA}" type="parTrans" cxnId="{EAF9B56C-5713-43BD-B7BB-B61777023C16}">
      <dgm:prSet/>
      <dgm:spPr/>
      <dgm:t>
        <a:bodyPr/>
        <a:lstStyle/>
        <a:p>
          <a:endParaRPr lang="en-US"/>
        </a:p>
      </dgm:t>
    </dgm:pt>
    <dgm:pt modelId="{5ED1F114-E337-4FBA-A611-7188BB831CE0}" type="sibTrans" cxnId="{EAF9B56C-5713-43BD-B7BB-B61777023C16}">
      <dgm:prSet/>
      <dgm:spPr/>
      <dgm:t>
        <a:bodyPr/>
        <a:lstStyle/>
        <a:p>
          <a:endParaRPr lang="en-US"/>
        </a:p>
      </dgm:t>
    </dgm:pt>
    <dgm:pt modelId="{38BF5C91-4641-4C0B-8D2E-1BC16658ED0B}" type="pres">
      <dgm:prSet presAssocID="{332611BB-F0B8-4046-BA3F-C639490C1899}" presName="Name0" presStyleCnt="0">
        <dgm:presLayoutVars>
          <dgm:chMax val="7"/>
          <dgm:chPref val="7"/>
          <dgm:dir/>
        </dgm:presLayoutVars>
      </dgm:prSet>
      <dgm:spPr/>
    </dgm:pt>
    <dgm:pt modelId="{79F5E3D7-0778-4CBC-93B4-A5EFE214CEA4}" type="pres">
      <dgm:prSet presAssocID="{332611BB-F0B8-4046-BA3F-C639490C1899}" presName="Name1" presStyleCnt="0"/>
      <dgm:spPr/>
    </dgm:pt>
    <dgm:pt modelId="{59C5E1B2-3275-4750-8CA8-313DC9136798}" type="pres">
      <dgm:prSet presAssocID="{332611BB-F0B8-4046-BA3F-C639490C1899}" presName="cycle" presStyleCnt="0"/>
      <dgm:spPr/>
    </dgm:pt>
    <dgm:pt modelId="{8A514937-C222-40CF-9A71-FA89B78F8F0F}" type="pres">
      <dgm:prSet presAssocID="{332611BB-F0B8-4046-BA3F-C639490C1899}" presName="srcNode" presStyleLbl="node1" presStyleIdx="0" presStyleCnt="6"/>
      <dgm:spPr/>
    </dgm:pt>
    <dgm:pt modelId="{66AF6DC1-C171-49AB-BE69-74004D7C3A23}" type="pres">
      <dgm:prSet presAssocID="{332611BB-F0B8-4046-BA3F-C639490C1899}" presName="conn" presStyleLbl="parChTrans1D2" presStyleIdx="0" presStyleCnt="1"/>
      <dgm:spPr/>
    </dgm:pt>
    <dgm:pt modelId="{3A6E4494-6493-46FA-8B77-038DEDEE4A0B}" type="pres">
      <dgm:prSet presAssocID="{332611BB-F0B8-4046-BA3F-C639490C1899}" presName="extraNode" presStyleLbl="node1" presStyleIdx="0" presStyleCnt="6"/>
      <dgm:spPr/>
    </dgm:pt>
    <dgm:pt modelId="{FD0BBF71-1823-4BF2-9750-178C85BA2CBF}" type="pres">
      <dgm:prSet presAssocID="{332611BB-F0B8-4046-BA3F-C639490C1899}" presName="dstNode" presStyleLbl="node1" presStyleIdx="0" presStyleCnt="6"/>
      <dgm:spPr/>
    </dgm:pt>
    <dgm:pt modelId="{D29A09F6-B6CB-4AE4-A5F8-61ED9D4BF30F}" type="pres">
      <dgm:prSet presAssocID="{4C3B436B-AF58-495D-8E1A-7D38E829EF31}" presName="text_1" presStyleLbl="node1" presStyleIdx="0" presStyleCnt="6">
        <dgm:presLayoutVars>
          <dgm:bulletEnabled val="1"/>
        </dgm:presLayoutVars>
      </dgm:prSet>
      <dgm:spPr/>
    </dgm:pt>
    <dgm:pt modelId="{7D98EF1D-A88E-48E2-BFEF-840B58C8E299}" type="pres">
      <dgm:prSet presAssocID="{4C3B436B-AF58-495D-8E1A-7D38E829EF31}" presName="accent_1" presStyleCnt="0"/>
      <dgm:spPr/>
    </dgm:pt>
    <dgm:pt modelId="{9D9E9751-1C8F-4FEE-ADE6-2FC569F55947}" type="pres">
      <dgm:prSet presAssocID="{4C3B436B-AF58-495D-8E1A-7D38E829EF31}" presName="accentRepeatNode" presStyleLbl="solidFgAcc1" presStyleIdx="0" presStyleCnt="6"/>
      <dgm:spPr/>
    </dgm:pt>
    <dgm:pt modelId="{75C49EA7-657A-489B-8C89-3E234E04C6AA}" type="pres">
      <dgm:prSet presAssocID="{B921460D-A1CF-4238-8857-13EA28352787}" presName="text_2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EDD392-AA77-4CFF-82C4-0AB366B0D874}" type="pres">
      <dgm:prSet presAssocID="{B921460D-A1CF-4238-8857-13EA28352787}" presName="accent_2" presStyleCnt="0"/>
      <dgm:spPr/>
    </dgm:pt>
    <dgm:pt modelId="{E929E7FF-4B45-45DD-B083-4AED91356EB7}" type="pres">
      <dgm:prSet presAssocID="{B921460D-A1CF-4238-8857-13EA28352787}" presName="accentRepeatNode" presStyleLbl="solidFgAcc1" presStyleIdx="1" presStyleCnt="6"/>
      <dgm:spPr/>
    </dgm:pt>
    <dgm:pt modelId="{A4F3218F-597F-41A4-A487-675B0C0555C0}" type="pres">
      <dgm:prSet presAssocID="{2B44399B-0C40-40BF-80CF-59973147965F}" presName="text_3" presStyleLbl="node1" presStyleIdx="2" presStyleCnt="6">
        <dgm:presLayoutVars>
          <dgm:bulletEnabled val="1"/>
        </dgm:presLayoutVars>
      </dgm:prSet>
      <dgm:spPr/>
    </dgm:pt>
    <dgm:pt modelId="{1FE381C4-1C89-44E3-B164-3108AB8D5CFF}" type="pres">
      <dgm:prSet presAssocID="{2B44399B-0C40-40BF-80CF-59973147965F}" presName="accent_3" presStyleCnt="0"/>
      <dgm:spPr/>
    </dgm:pt>
    <dgm:pt modelId="{EB232130-3C94-4454-8022-A79725394A92}" type="pres">
      <dgm:prSet presAssocID="{2B44399B-0C40-40BF-80CF-59973147965F}" presName="accentRepeatNode" presStyleLbl="solidFgAcc1" presStyleIdx="2" presStyleCnt="6"/>
      <dgm:spPr/>
    </dgm:pt>
    <dgm:pt modelId="{A36773EE-218E-407E-A06C-99ED69583DA6}" type="pres">
      <dgm:prSet presAssocID="{B7F3F1FC-9E9A-43F9-9663-1D15415337D8}" presName="text_4" presStyleLbl="node1" presStyleIdx="3" presStyleCnt="6">
        <dgm:presLayoutVars>
          <dgm:bulletEnabled val="1"/>
        </dgm:presLayoutVars>
      </dgm:prSet>
      <dgm:spPr/>
    </dgm:pt>
    <dgm:pt modelId="{88B0DDE0-D946-435B-B9C8-0CB6CE65CD6E}" type="pres">
      <dgm:prSet presAssocID="{B7F3F1FC-9E9A-43F9-9663-1D15415337D8}" presName="accent_4" presStyleCnt="0"/>
      <dgm:spPr/>
    </dgm:pt>
    <dgm:pt modelId="{275E41C8-57A7-4C0B-9C6C-E406C52DDEB9}" type="pres">
      <dgm:prSet presAssocID="{B7F3F1FC-9E9A-43F9-9663-1D15415337D8}" presName="accentRepeatNode" presStyleLbl="solidFgAcc1" presStyleIdx="3" presStyleCnt="6"/>
      <dgm:spPr/>
    </dgm:pt>
    <dgm:pt modelId="{C8328E0B-F78B-41B1-BE83-BAA83EAEBCB6}" type="pres">
      <dgm:prSet presAssocID="{432FBCCD-FBBE-41AD-AC52-47956692F25E}" presName="text_5" presStyleLbl="node1" presStyleIdx="4" presStyleCnt="6">
        <dgm:presLayoutVars>
          <dgm:bulletEnabled val="1"/>
        </dgm:presLayoutVars>
      </dgm:prSet>
      <dgm:spPr/>
    </dgm:pt>
    <dgm:pt modelId="{308A7381-9D92-43AA-87FA-850BFBF4ED64}" type="pres">
      <dgm:prSet presAssocID="{432FBCCD-FBBE-41AD-AC52-47956692F25E}" presName="accent_5" presStyleCnt="0"/>
      <dgm:spPr/>
    </dgm:pt>
    <dgm:pt modelId="{ABE7C7A9-4B39-40B7-A0CB-08549BD3081D}" type="pres">
      <dgm:prSet presAssocID="{432FBCCD-FBBE-41AD-AC52-47956692F25E}" presName="accentRepeatNode" presStyleLbl="solidFgAcc1" presStyleIdx="4" presStyleCnt="6"/>
      <dgm:spPr/>
    </dgm:pt>
    <dgm:pt modelId="{B47F690F-8E2A-482E-A101-447312CCEEDD}" type="pres">
      <dgm:prSet presAssocID="{C664685D-1726-44FF-B633-B1BAFD02F327}" presName="text_6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784D4C-6EC2-4364-8DA1-13141C4D3264}" type="pres">
      <dgm:prSet presAssocID="{C664685D-1726-44FF-B633-B1BAFD02F327}" presName="accent_6" presStyleCnt="0"/>
      <dgm:spPr/>
    </dgm:pt>
    <dgm:pt modelId="{E62F9ADB-B468-4A6D-B002-D24D245B43A5}" type="pres">
      <dgm:prSet presAssocID="{C664685D-1726-44FF-B633-B1BAFD02F327}" presName="accentRepeatNode" presStyleLbl="solidFgAcc1" presStyleIdx="5" presStyleCnt="6"/>
      <dgm:spPr/>
    </dgm:pt>
  </dgm:ptLst>
  <dgm:cxnLst>
    <dgm:cxn modelId="{EAAE290D-8034-4F67-BEE0-AAAA5F2E3FF3}" srcId="{332611BB-F0B8-4046-BA3F-C639490C1899}" destId="{C664685D-1726-44FF-B633-B1BAFD02F327}" srcOrd="5" destOrd="0" parTransId="{E639DBEA-603B-4E48-9BA5-60D1FCA6BC53}" sibTransId="{1D65ECF9-7F8A-4B08-BC24-F5DA5DBEA72B}"/>
    <dgm:cxn modelId="{3C0D91CD-9DA0-4078-91D8-FC4BCED59E12}" type="presOf" srcId="{B7F3F1FC-9E9A-43F9-9663-1D15415337D8}" destId="{A36773EE-218E-407E-A06C-99ED69583DA6}" srcOrd="0" destOrd="0" presId="urn:microsoft.com/office/officeart/2008/layout/VerticalCurvedList"/>
    <dgm:cxn modelId="{DCE4768F-CE15-43DB-AA8B-119CE140D889}" type="presOf" srcId="{C664685D-1726-44FF-B633-B1BAFD02F327}" destId="{B47F690F-8E2A-482E-A101-447312CCEEDD}" srcOrd="0" destOrd="0" presId="urn:microsoft.com/office/officeart/2008/layout/VerticalCurvedList"/>
    <dgm:cxn modelId="{76CCC187-9696-4311-BB5D-0BE956027220}" type="presOf" srcId="{4C3B436B-AF58-495D-8E1A-7D38E829EF31}" destId="{D29A09F6-B6CB-4AE4-A5F8-61ED9D4BF30F}" srcOrd="0" destOrd="0" presId="urn:microsoft.com/office/officeart/2008/layout/VerticalCurvedList"/>
    <dgm:cxn modelId="{9077C1DE-5AF5-40EA-8E05-CA93FF61D7BE}" srcId="{332611BB-F0B8-4046-BA3F-C639490C1899}" destId="{B7F3F1FC-9E9A-43F9-9663-1D15415337D8}" srcOrd="3" destOrd="0" parTransId="{407B8B2B-7AE5-40D3-A0E3-6395C327DFD5}" sibTransId="{212C8253-0D23-4B01-BE65-E757F05F8509}"/>
    <dgm:cxn modelId="{A1D0303A-299A-46E6-92D3-4A2103CC53D8}" type="presOf" srcId="{1E47D17E-D8FB-4719-922F-9B43E5DEFAC8}" destId="{66AF6DC1-C171-49AB-BE69-74004D7C3A23}" srcOrd="0" destOrd="0" presId="urn:microsoft.com/office/officeart/2008/layout/VerticalCurvedList"/>
    <dgm:cxn modelId="{63F63E7F-68B4-48FC-9450-32F3C91B4038}" srcId="{332611BB-F0B8-4046-BA3F-C639490C1899}" destId="{B921460D-A1CF-4238-8857-13EA28352787}" srcOrd="1" destOrd="0" parTransId="{238360DD-19B3-4A4E-8067-B5477C1E0A75}" sibTransId="{6C103315-C03B-42FA-BCEF-CC575F911734}"/>
    <dgm:cxn modelId="{B2DDF4C3-5E2D-489D-8DE1-3E737562B0FA}" type="presOf" srcId="{332611BB-F0B8-4046-BA3F-C639490C1899}" destId="{38BF5C91-4641-4C0B-8D2E-1BC16658ED0B}" srcOrd="0" destOrd="0" presId="urn:microsoft.com/office/officeart/2008/layout/VerticalCurvedList"/>
    <dgm:cxn modelId="{EAF9B56C-5713-43BD-B7BB-B61777023C16}" srcId="{332611BB-F0B8-4046-BA3F-C639490C1899}" destId="{432FBCCD-FBBE-41AD-AC52-47956692F25E}" srcOrd="4" destOrd="0" parTransId="{7783A7F0-371C-475A-9212-5B7348FE9ECA}" sibTransId="{5ED1F114-E337-4FBA-A611-7188BB831CE0}"/>
    <dgm:cxn modelId="{25DDE0C1-5ECF-4B02-9CF5-5C364602821E}" type="presOf" srcId="{432FBCCD-FBBE-41AD-AC52-47956692F25E}" destId="{C8328E0B-F78B-41B1-BE83-BAA83EAEBCB6}" srcOrd="0" destOrd="0" presId="urn:microsoft.com/office/officeart/2008/layout/VerticalCurvedList"/>
    <dgm:cxn modelId="{D8162C2A-47BE-445E-B7A5-C1A5B50837ED}" type="presOf" srcId="{2B44399B-0C40-40BF-80CF-59973147965F}" destId="{A4F3218F-597F-41A4-A487-675B0C0555C0}" srcOrd="0" destOrd="0" presId="urn:microsoft.com/office/officeart/2008/layout/VerticalCurvedList"/>
    <dgm:cxn modelId="{467CA3A7-0C65-458C-B551-FB0F6A03C499}" type="presOf" srcId="{B921460D-A1CF-4238-8857-13EA28352787}" destId="{75C49EA7-657A-489B-8C89-3E234E04C6AA}" srcOrd="0" destOrd="0" presId="urn:microsoft.com/office/officeart/2008/layout/VerticalCurvedList"/>
    <dgm:cxn modelId="{9A5A5EC1-5397-4E39-AC39-E4668676DF93}" srcId="{332611BB-F0B8-4046-BA3F-C639490C1899}" destId="{4C3B436B-AF58-495D-8E1A-7D38E829EF31}" srcOrd="0" destOrd="0" parTransId="{1DA381E4-E8E4-4188-8063-5B2A7F454E97}" sibTransId="{1E47D17E-D8FB-4719-922F-9B43E5DEFAC8}"/>
    <dgm:cxn modelId="{DEABA353-1410-4BCB-A03C-D097BBC2C009}" srcId="{332611BB-F0B8-4046-BA3F-C639490C1899}" destId="{2B44399B-0C40-40BF-80CF-59973147965F}" srcOrd="2" destOrd="0" parTransId="{CD4FAAC1-B826-44F5-9735-DD82021E9859}" sibTransId="{41754638-C165-4523-A1BB-3DD8DC7CA547}"/>
    <dgm:cxn modelId="{DA83CA69-BA44-4E3F-BE79-4A0C0C09F91D}" type="presParOf" srcId="{38BF5C91-4641-4C0B-8D2E-1BC16658ED0B}" destId="{79F5E3D7-0778-4CBC-93B4-A5EFE214CEA4}" srcOrd="0" destOrd="0" presId="urn:microsoft.com/office/officeart/2008/layout/VerticalCurvedList"/>
    <dgm:cxn modelId="{E80D8E69-857E-4CDC-ABA7-6AA32818166D}" type="presParOf" srcId="{79F5E3D7-0778-4CBC-93B4-A5EFE214CEA4}" destId="{59C5E1B2-3275-4750-8CA8-313DC9136798}" srcOrd="0" destOrd="0" presId="urn:microsoft.com/office/officeart/2008/layout/VerticalCurvedList"/>
    <dgm:cxn modelId="{81DD06EC-DBF1-4CAC-8609-487CE538C014}" type="presParOf" srcId="{59C5E1B2-3275-4750-8CA8-313DC9136798}" destId="{8A514937-C222-40CF-9A71-FA89B78F8F0F}" srcOrd="0" destOrd="0" presId="urn:microsoft.com/office/officeart/2008/layout/VerticalCurvedList"/>
    <dgm:cxn modelId="{9E6E3247-7611-4F53-B976-CB4B37110AC1}" type="presParOf" srcId="{59C5E1B2-3275-4750-8CA8-313DC9136798}" destId="{66AF6DC1-C171-49AB-BE69-74004D7C3A23}" srcOrd="1" destOrd="0" presId="urn:microsoft.com/office/officeart/2008/layout/VerticalCurvedList"/>
    <dgm:cxn modelId="{80B90D03-0DB0-4E2F-A222-75C9885AC5D5}" type="presParOf" srcId="{59C5E1B2-3275-4750-8CA8-313DC9136798}" destId="{3A6E4494-6493-46FA-8B77-038DEDEE4A0B}" srcOrd="2" destOrd="0" presId="urn:microsoft.com/office/officeart/2008/layout/VerticalCurvedList"/>
    <dgm:cxn modelId="{A75976ED-F9BE-48F5-ACCD-4F36F4E2B534}" type="presParOf" srcId="{59C5E1B2-3275-4750-8CA8-313DC9136798}" destId="{FD0BBF71-1823-4BF2-9750-178C85BA2CBF}" srcOrd="3" destOrd="0" presId="urn:microsoft.com/office/officeart/2008/layout/VerticalCurvedList"/>
    <dgm:cxn modelId="{CB4C4416-C939-45FD-875C-4AC431329CAC}" type="presParOf" srcId="{79F5E3D7-0778-4CBC-93B4-A5EFE214CEA4}" destId="{D29A09F6-B6CB-4AE4-A5F8-61ED9D4BF30F}" srcOrd="1" destOrd="0" presId="urn:microsoft.com/office/officeart/2008/layout/VerticalCurvedList"/>
    <dgm:cxn modelId="{928617B1-7564-4318-8C40-CD030FD221AB}" type="presParOf" srcId="{79F5E3D7-0778-4CBC-93B4-A5EFE214CEA4}" destId="{7D98EF1D-A88E-48E2-BFEF-840B58C8E299}" srcOrd="2" destOrd="0" presId="urn:microsoft.com/office/officeart/2008/layout/VerticalCurvedList"/>
    <dgm:cxn modelId="{EC0EC357-B956-48E5-AE46-5BB6A7E7D7D7}" type="presParOf" srcId="{7D98EF1D-A88E-48E2-BFEF-840B58C8E299}" destId="{9D9E9751-1C8F-4FEE-ADE6-2FC569F55947}" srcOrd="0" destOrd="0" presId="urn:microsoft.com/office/officeart/2008/layout/VerticalCurvedList"/>
    <dgm:cxn modelId="{C9853C48-4294-47C7-BE68-B5F6DB2C0066}" type="presParOf" srcId="{79F5E3D7-0778-4CBC-93B4-A5EFE214CEA4}" destId="{75C49EA7-657A-489B-8C89-3E234E04C6AA}" srcOrd="3" destOrd="0" presId="urn:microsoft.com/office/officeart/2008/layout/VerticalCurvedList"/>
    <dgm:cxn modelId="{AF397B41-737E-4437-A2F0-86E74E2BACA5}" type="presParOf" srcId="{79F5E3D7-0778-4CBC-93B4-A5EFE214CEA4}" destId="{ACEDD392-AA77-4CFF-82C4-0AB366B0D874}" srcOrd="4" destOrd="0" presId="urn:microsoft.com/office/officeart/2008/layout/VerticalCurvedList"/>
    <dgm:cxn modelId="{15A0FF01-365F-470E-8AD5-5C35403EF081}" type="presParOf" srcId="{ACEDD392-AA77-4CFF-82C4-0AB366B0D874}" destId="{E929E7FF-4B45-45DD-B083-4AED91356EB7}" srcOrd="0" destOrd="0" presId="urn:microsoft.com/office/officeart/2008/layout/VerticalCurvedList"/>
    <dgm:cxn modelId="{5027C621-28CE-4530-B662-41A4F4040A75}" type="presParOf" srcId="{79F5E3D7-0778-4CBC-93B4-A5EFE214CEA4}" destId="{A4F3218F-597F-41A4-A487-675B0C0555C0}" srcOrd="5" destOrd="0" presId="urn:microsoft.com/office/officeart/2008/layout/VerticalCurvedList"/>
    <dgm:cxn modelId="{ECC08786-4A6F-4DDD-BC1E-E31D5594D7E1}" type="presParOf" srcId="{79F5E3D7-0778-4CBC-93B4-A5EFE214CEA4}" destId="{1FE381C4-1C89-44E3-B164-3108AB8D5CFF}" srcOrd="6" destOrd="0" presId="urn:microsoft.com/office/officeart/2008/layout/VerticalCurvedList"/>
    <dgm:cxn modelId="{CE7F9ABE-C4BD-4732-81EE-B3D5A92C59A1}" type="presParOf" srcId="{1FE381C4-1C89-44E3-B164-3108AB8D5CFF}" destId="{EB232130-3C94-4454-8022-A79725394A92}" srcOrd="0" destOrd="0" presId="urn:microsoft.com/office/officeart/2008/layout/VerticalCurvedList"/>
    <dgm:cxn modelId="{E46A2B08-CBC7-43BE-9418-F45F399ABE67}" type="presParOf" srcId="{79F5E3D7-0778-4CBC-93B4-A5EFE214CEA4}" destId="{A36773EE-218E-407E-A06C-99ED69583DA6}" srcOrd="7" destOrd="0" presId="urn:microsoft.com/office/officeart/2008/layout/VerticalCurvedList"/>
    <dgm:cxn modelId="{1EC0364A-0ADA-46A3-BE0C-46B44236D867}" type="presParOf" srcId="{79F5E3D7-0778-4CBC-93B4-A5EFE214CEA4}" destId="{88B0DDE0-D946-435B-B9C8-0CB6CE65CD6E}" srcOrd="8" destOrd="0" presId="urn:microsoft.com/office/officeart/2008/layout/VerticalCurvedList"/>
    <dgm:cxn modelId="{84CB6CDD-8F74-47EF-8F41-0EDC45694ED4}" type="presParOf" srcId="{88B0DDE0-D946-435B-B9C8-0CB6CE65CD6E}" destId="{275E41C8-57A7-4C0B-9C6C-E406C52DDEB9}" srcOrd="0" destOrd="0" presId="urn:microsoft.com/office/officeart/2008/layout/VerticalCurvedList"/>
    <dgm:cxn modelId="{0074C2F8-AB48-4A60-8614-2E83A695CCDA}" type="presParOf" srcId="{79F5E3D7-0778-4CBC-93B4-A5EFE214CEA4}" destId="{C8328E0B-F78B-41B1-BE83-BAA83EAEBCB6}" srcOrd="9" destOrd="0" presId="urn:microsoft.com/office/officeart/2008/layout/VerticalCurvedList"/>
    <dgm:cxn modelId="{D61EDB38-6515-4421-B748-4CDE52D0120D}" type="presParOf" srcId="{79F5E3D7-0778-4CBC-93B4-A5EFE214CEA4}" destId="{308A7381-9D92-43AA-87FA-850BFBF4ED64}" srcOrd="10" destOrd="0" presId="urn:microsoft.com/office/officeart/2008/layout/VerticalCurvedList"/>
    <dgm:cxn modelId="{58FE8D93-C4D5-4B83-8CBC-DE239365BD83}" type="presParOf" srcId="{308A7381-9D92-43AA-87FA-850BFBF4ED64}" destId="{ABE7C7A9-4B39-40B7-A0CB-08549BD3081D}" srcOrd="0" destOrd="0" presId="urn:microsoft.com/office/officeart/2008/layout/VerticalCurvedList"/>
    <dgm:cxn modelId="{7FD0D078-EAF1-456A-834C-F9EC026B1855}" type="presParOf" srcId="{79F5E3D7-0778-4CBC-93B4-A5EFE214CEA4}" destId="{B47F690F-8E2A-482E-A101-447312CCEEDD}" srcOrd="11" destOrd="0" presId="urn:microsoft.com/office/officeart/2008/layout/VerticalCurvedList"/>
    <dgm:cxn modelId="{9D262A7D-CB22-4935-8677-284E3992CC5E}" type="presParOf" srcId="{79F5E3D7-0778-4CBC-93B4-A5EFE214CEA4}" destId="{BB784D4C-6EC2-4364-8DA1-13141C4D3264}" srcOrd="12" destOrd="0" presId="urn:microsoft.com/office/officeart/2008/layout/VerticalCurvedList"/>
    <dgm:cxn modelId="{F54A2DCC-1994-4692-ADEA-1BA92D610D80}" type="presParOf" srcId="{BB784D4C-6EC2-4364-8DA1-13141C4D3264}" destId="{E62F9ADB-B468-4A6D-B002-D24D245B43A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F6DC1-C171-49AB-BE69-74004D7C3A23}">
      <dsp:nvSpPr>
        <dsp:cNvPr id="0" name=""/>
        <dsp:cNvSpPr/>
      </dsp:nvSpPr>
      <dsp:spPr>
        <a:xfrm>
          <a:off x="-9188722" y="-1403415"/>
          <a:ext cx="10934832" cy="10934832"/>
        </a:xfrm>
        <a:prstGeom prst="blockArc">
          <a:avLst>
            <a:gd name="adj1" fmla="val 18900000"/>
            <a:gd name="adj2" fmla="val 2700000"/>
            <a:gd name="adj3" fmla="val 198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9A09F6-B6CB-4AE4-A5F8-61ED9D4BF30F}">
      <dsp:nvSpPr>
        <dsp:cNvPr id="0" name=""/>
        <dsp:cNvSpPr/>
      </dsp:nvSpPr>
      <dsp:spPr>
        <a:xfrm>
          <a:off x="650646" y="428020"/>
          <a:ext cx="11425529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err="1" smtClean="0"/>
            <a:t>Jumlah</a:t>
          </a:r>
          <a:r>
            <a:rPr lang="en-US" sz="4300" kern="1200" dirty="0" smtClean="0"/>
            <a:t> </a:t>
          </a:r>
          <a:r>
            <a:rPr lang="en-US" sz="4300" kern="1200" dirty="0" err="1" smtClean="0"/>
            <a:t>Tetangga</a:t>
          </a:r>
          <a:r>
            <a:rPr lang="en-US" sz="4300" kern="1200" dirty="0" smtClean="0"/>
            <a:t> (K)</a:t>
          </a:r>
          <a:endParaRPr lang="en-US" sz="4300" kern="1200" dirty="0"/>
        </a:p>
      </dsp:txBody>
      <dsp:txXfrm>
        <a:off x="650646" y="428020"/>
        <a:ext cx="11425529" cy="855715"/>
      </dsp:txXfrm>
    </dsp:sp>
    <dsp:sp modelId="{9D9E9751-1C8F-4FEE-ADE6-2FC569F55947}">
      <dsp:nvSpPr>
        <dsp:cNvPr id="0" name=""/>
        <dsp:cNvSpPr/>
      </dsp:nvSpPr>
      <dsp:spPr>
        <a:xfrm>
          <a:off x="115823" y="321056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49EA7-657A-489B-8C89-3E234E04C6AA}">
      <dsp:nvSpPr>
        <dsp:cNvPr id="0" name=""/>
        <dsp:cNvSpPr/>
      </dsp:nvSpPr>
      <dsp:spPr>
        <a:xfrm>
          <a:off x="1354531" y="1711431"/>
          <a:ext cx="10721644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Metric </a:t>
          </a:r>
          <a:r>
            <a:rPr lang="en-US" sz="4300" kern="1200" dirty="0" err="1" smtClean="0"/>
            <a:t>Jarak</a:t>
          </a:r>
          <a:endParaRPr lang="en-US" sz="4300" kern="1200" dirty="0"/>
        </a:p>
      </dsp:txBody>
      <dsp:txXfrm>
        <a:off x="1354531" y="1711431"/>
        <a:ext cx="10721644" cy="855715"/>
      </dsp:txXfrm>
    </dsp:sp>
    <dsp:sp modelId="{E929E7FF-4B45-45DD-B083-4AED91356EB7}">
      <dsp:nvSpPr>
        <dsp:cNvPr id="0" name=""/>
        <dsp:cNvSpPr/>
      </dsp:nvSpPr>
      <dsp:spPr>
        <a:xfrm>
          <a:off x="819708" y="1604467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3218F-597F-41A4-A487-675B0C0555C0}">
      <dsp:nvSpPr>
        <dsp:cNvPr id="0" name=""/>
        <dsp:cNvSpPr/>
      </dsp:nvSpPr>
      <dsp:spPr>
        <a:xfrm>
          <a:off x="1676399" y="2994842"/>
          <a:ext cx="10399776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err="1" smtClean="0"/>
            <a:t>Bobot</a:t>
          </a:r>
          <a:r>
            <a:rPr lang="en-US" sz="4300" kern="1200" dirty="0" smtClean="0"/>
            <a:t> (Weights)</a:t>
          </a:r>
          <a:endParaRPr lang="en-US" sz="4300" kern="1200" dirty="0"/>
        </a:p>
      </dsp:txBody>
      <dsp:txXfrm>
        <a:off x="1676399" y="2994842"/>
        <a:ext cx="10399776" cy="855715"/>
      </dsp:txXfrm>
    </dsp:sp>
    <dsp:sp modelId="{EB232130-3C94-4454-8022-A79725394A92}">
      <dsp:nvSpPr>
        <dsp:cNvPr id="0" name=""/>
        <dsp:cNvSpPr/>
      </dsp:nvSpPr>
      <dsp:spPr>
        <a:xfrm>
          <a:off x="1141577" y="2887878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773EE-218E-407E-A06C-99ED69583DA6}">
      <dsp:nvSpPr>
        <dsp:cNvPr id="0" name=""/>
        <dsp:cNvSpPr/>
      </dsp:nvSpPr>
      <dsp:spPr>
        <a:xfrm>
          <a:off x="1676399" y="4277441"/>
          <a:ext cx="10399776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err="1" smtClean="0"/>
            <a:t>Panjang</a:t>
          </a:r>
          <a:r>
            <a:rPr lang="en-US" sz="4300" kern="1200" dirty="0" smtClean="0"/>
            <a:t> </a:t>
          </a:r>
          <a:r>
            <a:rPr lang="en-US" sz="4300" kern="1200" dirty="0" err="1" smtClean="0"/>
            <a:t>Jarak</a:t>
          </a:r>
          <a:r>
            <a:rPr lang="en-US" sz="4300" kern="1200" dirty="0" smtClean="0"/>
            <a:t> (Distance Metric Parameters)</a:t>
          </a:r>
          <a:endParaRPr lang="en-US" sz="4300" kern="1200" dirty="0"/>
        </a:p>
      </dsp:txBody>
      <dsp:txXfrm>
        <a:off x="1676399" y="4277441"/>
        <a:ext cx="10399776" cy="855715"/>
      </dsp:txXfrm>
    </dsp:sp>
    <dsp:sp modelId="{275E41C8-57A7-4C0B-9C6C-E406C52DDEB9}">
      <dsp:nvSpPr>
        <dsp:cNvPr id="0" name=""/>
        <dsp:cNvSpPr/>
      </dsp:nvSpPr>
      <dsp:spPr>
        <a:xfrm>
          <a:off x="1141577" y="4170476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28E0B-F78B-41B1-BE83-BAA83EAEBCB6}">
      <dsp:nvSpPr>
        <dsp:cNvPr id="0" name=""/>
        <dsp:cNvSpPr/>
      </dsp:nvSpPr>
      <dsp:spPr>
        <a:xfrm>
          <a:off x="1354531" y="5560852"/>
          <a:ext cx="10721644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err="1" smtClean="0"/>
            <a:t>Normalisasi</a:t>
          </a:r>
          <a:r>
            <a:rPr lang="en-US" sz="4300" kern="1200" dirty="0" smtClean="0"/>
            <a:t> Data</a:t>
          </a:r>
          <a:endParaRPr lang="en-US" sz="4300" kern="1200" dirty="0"/>
        </a:p>
      </dsp:txBody>
      <dsp:txXfrm>
        <a:off x="1354531" y="5560852"/>
        <a:ext cx="10721644" cy="855715"/>
      </dsp:txXfrm>
    </dsp:sp>
    <dsp:sp modelId="{ABE7C7A9-4B39-40B7-A0CB-08549BD3081D}">
      <dsp:nvSpPr>
        <dsp:cNvPr id="0" name=""/>
        <dsp:cNvSpPr/>
      </dsp:nvSpPr>
      <dsp:spPr>
        <a:xfrm>
          <a:off x="819708" y="5453888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F690F-8E2A-482E-A101-447312CCEEDD}">
      <dsp:nvSpPr>
        <dsp:cNvPr id="0" name=""/>
        <dsp:cNvSpPr/>
      </dsp:nvSpPr>
      <dsp:spPr>
        <a:xfrm>
          <a:off x="650646" y="6844263"/>
          <a:ext cx="11425529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err="1" smtClean="0"/>
            <a:t>Algoritma</a:t>
          </a:r>
          <a:r>
            <a:rPr lang="en-US" sz="4300" kern="1200" dirty="0" smtClean="0"/>
            <a:t> </a:t>
          </a:r>
          <a:r>
            <a:rPr lang="en-US" sz="4300" kern="1200" dirty="0" err="1" smtClean="0"/>
            <a:t>Pencarian</a:t>
          </a:r>
          <a:r>
            <a:rPr lang="en-US" sz="4300" kern="1200" dirty="0" smtClean="0"/>
            <a:t> </a:t>
          </a:r>
          <a:r>
            <a:rPr lang="en-US" sz="4300" kern="1200" dirty="0" err="1" smtClean="0"/>
            <a:t>Tetangga</a:t>
          </a:r>
          <a:endParaRPr lang="en-US" sz="4300" kern="1200" dirty="0"/>
        </a:p>
      </dsp:txBody>
      <dsp:txXfrm>
        <a:off x="650646" y="6844263"/>
        <a:ext cx="11425529" cy="855715"/>
      </dsp:txXfrm>
    </dsp:sp>
    <dsp:sp modelId="{E62F9ADB-B468-4A6D-B002-D24D245B43A5}">
      <dsp:nvSpPr>
        <dsp:cNvPr id="0" name=""/>
        <dsp:cNvSpPr/>
      </dsp:nvSpPr>
      <dsp:spPr>
        <a:xfrm>
          <a:off x="115823" y="6737299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1C830-9C34-4941-A1BF-6C8F11E448E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DCA36-99ED-481A-ADCF-ED808D660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9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8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4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39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09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67EE39-37F4-19B4-3FB5-5D9AB999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ED52F0B-C179-7D2C-99D1-CC0F4EFCE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EE1770C-A791-E849-77D0-11D12DC1A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FB7B76-6A9F-F51C-DF4E-19B48E173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3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036960E-23E7-2CA9-D746-1C28C043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817687F-FB4D-80EF-2355-AF4EE1493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0697F28-EA19-6B90-CBC3-7FFC8D32D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ECD1C8D-4955-26AD-99B0-D0E911C15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95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001516-E597-362D-F241-E1A788E89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FB4E79E-62FE-F0A8-3EC2-C163C2B8C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1B8F1A6-2FFE-48F4-2573-9B03A0830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29B5CD4-B8AF-8723-1738-0E5013C8F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54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81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75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29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06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18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69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55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76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45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23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06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1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61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164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40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643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7EB249-B372-941D-A706-07D1008B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FAF41C2-6401-0149-1186-D124D89E2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314B9D3-450D-C16E-CDB8-13E90CC04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0A4A0B5-EE7E-568D-5AAF-0F54E9E66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11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843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60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NUL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3969"/>
            <a:ext cx="18288000" cy="11240970"/>
          </a:xfrm>
          <a:custGeom>
            <a:avLst/>
            <a:gdLst/>
            <a:ahLst/>
            <a:cxnLst/>
            <a:rect l="l" t="t" r="r" b="b"/>
            <a:pathLst>
              <a:path w="18288000" h="12194939">
                <a:moveTo>
                  <a:pt x="0" y="0"/>
                </a:moveTo>
                <a:lnTo>
                  <a:pt x="18288000" y="0"/>
                </a:lnTo>
                <a:lnTo>
                  <a:pt x="18288000" y="12194940"/>
                </a:lnTo>
                <a:lnTo>
                  <a:pt x="0" y="121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>
                <a:alpha val="7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05748" y="323497"/>
            <a:ext cx="1690679" cy="1410406"/>
          </a:xfrm>
          <a:custGeom>
            <a:avLst/>
            <a:gdLst/>
            <a:ahLst/>
            <a:cxnLst/>
            <a:rect l="l" t="t" r="r" b="b"/>
            <a:pathLst>
              <a:path w="1690679" h="1410406">
                <a:moveTo>
                  <a:pt x="0" y="0"/>
                </a:moveTo>
                <a:lnTo>
                  <a:pt x="1690679" y="0"/>
                </a:lnTo>
                <a:lnTo>
                  <a:pt x="1690679" y="1410406"/>
                </a:lnTo>
                <a:lnTo>
                  <a:pt x="0" y="141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9831614"/>
            <a:ext cx="18288000" cy="455385"/>
            <a:chOff x="0" y="0"/>
            <a:chExt cx="3793620" cy="2880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93620" cy="288059"/>
            </a:xfrm>
            <a:custGeom>
              <a:avLst/>
              <a:gdLst/>
              <a:ahLst/>
              <a:cxnLst/>
              <a:rect l="l" t="t" r="r" b="b"/>
              <a:pathLst>
                <a:path w="3793620" h="288059">
                  <a:moveTo>
                    <a:pt x="0" y="0"/>
                  </a:moveTo>
                  <a:lnTo>
                    <a:pt x="3793620" y="0"/>
                  </a:lnTo>
                  <a:lnTo>
                    <a:pt x="3793620" y="288059"/>
                  </a:lnTo>
                  <a:lnTo>
                    <a:pt x="0" y="288059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93620" cy="326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96427" y="395391"/>
            <a:ext cx="154333" cy="1266619"/>
          </a:xfrm>
          <a:custGeom>
            <a:avLst/>
            <a:gdLst/>
            <a:ahLst/>
            <a:cxnLst/>
            <a:rect l="l" t="t" r="r" b="b"/>
            <a:pathLst>
              <a:path w="154333" h="1266619">
                <a:moveTo>
                  <a:pt x="0" y="0"/>
                </a:moveTo>
                <a:lnTo>
                  <a:pt x="154334" y="0"/>
                </a:lnTo>
                <a:lnTo>
                  <a:pt x="154334" y="1266618"/>
                </a:lnTo>
                <a:lnTo>
                  <a:pt x="0" y="1266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801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246411" y="2595229"/>
            <a:ext cx="13795173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spc="63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Introduction to </a:t>
            </a:r>
            <a:r>
              <a:rPr lang="en-US" sz="6000" b="1" spc="63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</a:p>
          <a:p>
            <a:pPr algn="ctr"/>
            <a:r>
              <a:rPr lang="en-US" sz="6000" b="1" spc="63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</a:t>
            </a:r>
            <a:r>
              <a:rPr lang="en-US" sz="6000" b="1" spc="63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endParaRPr lang="en-US" sz="6000" b="1" spc="63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740434" y="4694049"/>
            <a:ext cx="8807132" cy="194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Week </a:t>
            </a:r>
            <a:r>
              <a:rPr lang="en-US" sz="2696" spc="121" dirty="0" smtClean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5</a:t>
            </a:r>
            <a:endParaRPr lang="en-US" sz="2696" spc="121" dirty="0">
              <a:solidFill>
                <a:srgbClr val="08377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D4 Robotics Engineering Study Program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Department of Electrical Engineering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 err="1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Negeri Batam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7839" y="404916"/>
            <a:ext cx="2167395" cy="12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</a:p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Negeri Batam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0593" y="7475884"/>
            <a:ext cx="9753969" cy="43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Machine Learning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897880" y="7082061"/>
            <a:ext cx="649224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xmlns="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xmlns="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 smtClean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  <a:endParaRPr lang="en-US" sz="5035" b="1" u="none" strike="noStrike" spc="181" dirty="0">
              <a:solidFill>
                <a:srgbClr val="2A2E3A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xmlns="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Machine Learning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xmlns="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xmlns="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775140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5295601" y="6143370"/>
            <a:ext cx="7643911" cy="3948650"/>
          </a:xfrm>
          <a:custGeom>
            <a:avLst/>
            <a:gdLst/>
            <a:ahLst/>
            <a:cxnLst/>
            <a:rect l="l" t="t" r="r" b="b"/>
            <a:pathLst>
              <a:path w="7643911" h="3948650">
                <a:moveTo>
                  <a:pt x="0" y="0"/>
                </a:moveTo>
                <a:lnTo>
                  <a:pt x="7643912" y="0"/>
                </a:lnTo>
                <a:lnTo>
                  <a:pt x="7643912" y="3948650"/>
                </a:lnTo>
                <a:lnTo>
                  <a:pt x="0" y="3948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152286" y="1328699"/>
            <a:ext cx="9983428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Supervised Learning?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417" y="3536335"/>
            <a:ext cx="15591442" cy="2151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7"/>
              </a:lnSpc>
            </a:pP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Dalam Supervised Learning,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mesin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dilatih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menggunakan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berlabel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yang juga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dikenal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sebagai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pelatihan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memprediksi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hasil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Tujuannya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adalah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membangun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model yang dapat belajar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dari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berlabel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ini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membuat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prediksi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atau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klasifikasi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pada data baru yang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belum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pernah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dilihat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sebelumnya.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Classification?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2" name="Picture 2" descr="Image result for apel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053087"/>
            <a:ext cx="2819398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Image result for JERU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5186156"/>
            <a:ext cx="2693724" cy="269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mage result for semangk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680" y="5090050"/>
            <a:ext cx="2737243" cy="283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Image result for mel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286" y="5157155"/>
            <a:ext cx="3450274" cy="253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 9"/>
          <p:cNvSpPr/>
          <p:nvPr/>
        </p:nvSpPr>
        <p:spPr>
          <a:xfrm>
            <a:off x="14592123" y="615014"/>
            <a:ext cx="1967960" cy="1826684"/>
          </a:xfrm>
          <a:custGeom>
            <a:avLst/>
            <a:gdLst/>
            <a:ahLst/>
            <a:cxnLst/>
            <a:rect l="l" t="t" r="r" b="b"/>
            <a:pathLst>
              <a:path w="7643911" h="3948650">
                <a:moveTo>
                  <a:pt x="0" y="0"/>
                </a:moveTo>
                <a:lnTo>
                  <a:pt x="7643912" y="0"/>
                </a:lnTo>
                <a:lnTo>
                  <a:pt x="7643912" y="3948650"/>
                </a:lnTo>
                <a:lnTo>
                  <a:pt x="0" y="39486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/>
            <a:stretch>
              <a:fillRect r="-98626" b="-10540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551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4759C0-9F23-7F82-2202-05FF4835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018815BE-4B81-8689-6515-9FA549073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6286" y="3086100"/>
            <a:ext cx="7385750" cy="5878835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777B27F-7CEE-4937-7CE3-9E19C5EE5F4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022897F2-4923-6655-2D63-1DC58D8714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2B076409-D2C7-DB38-61C2-EE19636894D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37ABB9E0-62E1-D74C-4CD8-6DB124E5640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8D29A533-7140-FA2F-509E-E773735442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45B375C8-620C-0645-7D10-3290B58D44A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xmlns="" id="{22E947AD-BF50-5273-DD7B-6BD00BC63C8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155D4D8A-4672-5231-9741-6E5D8A1D750B}"/>
              </a:ext>
            </a:extLst>
          </p:cNvPr>
          <p:cNvSpPr txBox="1"/>
          <p:nvPr/>
        </p:nvSpPr>
        <p:spPr>
          <a:xfrm>
            <a:off x="1111216" y="1232844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1887074-D71C-00E2-4F86-0AF6767121D7}"/>
              </a:ext>
            </a:extLst>
          </p:cNvPr>
          <p:cNvSpPr txBox="1"/>
          <p:nvPr/>
        </p:nvSpPr>
        <p:spPr>
          <a:xfrm>
            <a:off x="1981200" y="1965619"/>
            <a:ext cx="16666600" cy="7129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</a:t>
            </a:r>
            <a:r>
              <a:rPr lang="sv-SE" sz="2800" dirty="0">
                <a:latin typeface="Montserrat" panose="020B0604020202020204" charset="0"/>
              </a:rPr>
              <a:t>Model memprediksi kategori atau label diskrit dari input yang </a:t>
            </a:r>
            <a:r>
              <a:rPr lang="sv-SE" sz="2800" dirty="0" smtClean="0">
                <a:latin typeface="Montserrat" panose="020B0604020202020204" charset="0"/>
              </a:rPr>
              <a:t>diberikan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Output </a:t>
            </a:r>
            <a:r>
              <a:rPr lang="en-US" sz="28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: </a:t>
            </a: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Categorical </a:t>
            </a:r>
            <a:r>
              <a:rPr lang="en-US" sz="2800" dirty="0" err="1" smtClean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atau</a:t>
            </a:r>
            <a:r>
              <a:rPr lang="en-US" sz="2800" dirty="0" smtClean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 </a:t>
            </a: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discrete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Model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Decision Tree,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Naïve Bayes,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Random Forest,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Support Vector Machine (SVM)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Model evaluation: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Accuracy,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Precision,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Recall, F1- Score</a:t>
            </a:r>
          </a:p>
        </p:txBody>
      </p:sp>
    </p:spTree>
    <p:extLst>
      <p:ext uri="{BB962C8B-B14F-4D97-AF65-F5344CB8AC3E}">
        <p14:creationId xmlns:p14="http://schemas.microsoft.com/office/powerpoint/2010/main" val="1105852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11111E-6 L 0.275 -0.2737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-136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E0AC208-DEAB-0A23-89AC-83D9D19E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4FBD22A3-2850-5EEB-73DF-4FEACA04FF23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3706FB6A-1DC3-608D-08BC-171EACD514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70CB1FD2-68DE-A868-1BD0-3B207BFDF63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94144B89-FED3-5B09-5FAD-1EFA8F3AFBC3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96A30EEC-F570-6F1A-C9E3-5DFEC4CA22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81A33302-0AF7-F27C-C2C5-D5244F06A4D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xmlns="" id="{AAD522EC-A6C8-9D09-7D6A-D4035D6DA55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74594AEC-A91E-0615-E07B-C5E79CD06BBB}"/>
              </a:ext>
            </a:extLst>
          </p:cNvPr>
          <p:cNvSpPr txBox="1"/>
          <p:nvPr/>
        </p:nvSpPr>
        <p:spPr>
          <a:xfrm>
            <a:off x="751416" y="1521577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0F3F2F3-756C-4E3D-D40C-BC91651494D6}"/>
              </a:ext>
            </a:extLst>
          </p:cNvPr>
          <p:cNvSpPr txBox="1"/>
          <p:nvPr/>
        </p:nvSpPr>
        <p:spPr>
          <a:xfrm>
            <a:off x="1644846" y="2493462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The model learns from labeled data to predict new outputs.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6A5217E3-AD96-FF24-FE51-5D6A9B66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04"/>
          <a:stretch/>
        </p:blipFill>
        <p:spPr>
          <a:xfrm>
            <a:off x="55662" y="4217917"/>
            <a:ext cx="18013514" cy="32574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671242F3-D334-9053-F582-4B656E639B75}"/>
              </a:ext>
            </a:extLst>
          </p:cNvPr>
          <p:cNvSpPr txBox="1"/>
          <p:nvPr/>
        </p:nvSpPr>
        <p:spPr>
          <a:xfrm>
            <a:off x="1790700" y="3390900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B</a:t>
            </a:r>
            <a:r>
              <a:rPr lang="en-US" sz="32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ank Customer Churn Prediction</a:t>
            </a:r>
          </a:p>
        </p:txBody>
      </p:sp>
    </p:spTree>
    <p:extLst>
      <p:ext uri="{BB962C8B-B14F-4D97-AF65-F5344CB8AC3E}">
        <p14:creationId xmlns:p14="http://schemas.microsoft.com/office/powerpoint/2010/main" val="231224740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BC4CEF-B362-D68C-151A-D2FD39B2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49CA51E7-4694-4843-5784-DBE6D77139C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1EFB4AFE-9C0E-0F8A-991E-56D9ADEBFF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CE056183-A56A-A689-EFA3-41BD14905EB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B1AF8758-FA85-2BD4-75C4-C279CEBDDB8B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304B956D-FFB9-25B1-A303-5BE55FB79E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265E582D-1AC1-ACD7-AAA8-875850E09E4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xmlns="" id="{320F6E23-330E-B6C5-F0B0-79CADD3514B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F1F6C5FC-52EE-A925-A6A8-3F3B9E168C6E}"/>
              </a:ext>
            </a:extLst>
          </p:cNvPr>
          <p:cNvSpPr txBox="1"/>
          <p:nvPr/>
        </p:nvSpPr>
        <p:spPr>
          <a:xfrm>
            <a:off x="751416" y="1521577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E687DD9-C4AA-B01F-A0D3-5299FF830795}"/>
              </a:ext>
            </a:extLst>
          </p:cNvPr>
          <p:cNvSpPr txBox="1"/>
          <p:nvPr/>
        </p:nvSpPr>
        <p:spPr>
          <a:xfrm>
            <a:off x="1644846" y="2493462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The model learns from labeled data to predict new outputs.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57D498E-2E4E-71FE-9503-24219EDE0447}"/>
              </a:ext>
            </a:extLst>
          </p:cNvPr>
          <p:cNvSpPr txBox="1"/>
          <p:nvPr/>
        </p:nvSpPr>
        <p:spPr>
          <a:xfrm>
            <a:off x="1790700" y="3390900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Anemia Disease Prediction</a:t>
            </a:r>
            <a:endParaRPr lang="en-US" sz="3200" b="1" i="0" dirty="0">
              <a:solidFill>
                <a:srgbClr val="1F2328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4F7CC22D-27E9-4B44-4A1B-7F5E406A3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674" y="4288338"/>
            <a:ext cx="15364652" cy="400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872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1416" y="1565597"/>
            <a:ext cx="939296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51"/>
              </a:lnSpc>
              <a:spcBef>
                <a:spcPct val="0"/>
              </a:spcBef>
            </a:pPr>
            <a:r>
              <a:rPr lang="en-US" sz="5792" b="1" spc="19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Types of Classification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33600" y="2902029"/>
            <a:ext cx="12719944" cy="5819374"/>
            <a:chOff x="0" y="0"/>
            <a:chExt cx="16959925" cy="77591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59925" cy="7759166"/>
            </a:xfrm>
            <a:custGeom>
              <a:avLst/>
              <a:gdLst/>
              <a:ahLst/>
              <a:cxnLst/>
              <a:rect l="l" t="t" r="r" b="b"/>
              <a:pathLst>
                <a:path w="16959925" h="7759166">
                  <a:moveTo>
                    <a:pt x="0" y="0"/>
                  </a:moveTo>
                  <a:lnTo>
                    <a:pt x="16959925" y="0"/>
                  </a:lnTo>
                  <a:lnTo>
                    <a:pt x="16959925" y="7759166"/>
                  </a:lnTo>
                  <a:lnTo>
                    <a:pt x="0" y="7759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8404" y="7293190"/>
              <a:ext cx="8061137" cy="458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993"/>
                </a:lnSpc>
                <a:spcBef>
                  <a:spcPct val="0"/>
                </a:spcBef>
              </a:pPr>
              <a:r>
                <a:rPr lang="en-ID" b="0" i="0" dirty="0">
                  <a:solidFill>
                    <a:srgbClr val="074364"/>
                  </a:solidFill>
                  <a:effectLst/>
                  <a:latin typeface="Raleway" pitchFamily="2" charset="0"/>
                </a:rPr>
                <a:t>Image Source </a:t>
              </a:r>
              <a:r>
                <a:rPr lang="en-US" dirty="0">
                  <a:solidFill>
                    <a:srgbClr val="08377C"/>
                  </a:solidFill>
                  <a:latin typeface="Raleway" pitchFamily="2" charset="0"/>
                  <a:ea typeface="Montserrat Classic"/>
                  <a:cs typeface="Montserrat Classic"/>
                  <a:sym typeface="Montserrat Classic"/>
                </a:rPr>
                <a:t>: </a:t>
              </a:r>
              <a:r>
                <a:rPr lang="en-US" u="sng" dirty="0">
                  <a:solidFill>
                    <a:srgbClr val="08377C"/>
                  </a:solidFill>
                  <a:latin typeface="Raleway" pitchFamily="2" charset="0"/>
                  <a:ea typeface="Montserrat Classic"/>
                  <a:cs typeface="Montserrat Classic"/>
                  <a:sym typeface="Montserrat Classic"/>
                </a:rPr>
                <a:t>https://www.dicoding.com/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455878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902264" y="3609602"/>
            <a:ext cx="5813600" cy="4461408"/>
          </a:xfrm>
          <a:custGeom>
            <a:avLst/>
            <a:gdLst/>
            <a:ahLst/>
            <a:cxnLst/>
            <a:rect l="l" t="t" r="r" b="b"/>
            <a:pathLst>
              <a:path w="5813600" h="4461408">
                <a:moveTo>
                  <a:pt x="0" y="0"/>
                </a:moveTo>
                <a:lnTo>
                  <a:pt x="5813600" y="0"/>
                </a:lnTo>
                <a:lnTo>
                  <a:pt x="5813600" y="4461408"/>
                </a:lnTo>
                <a:lnTo>
                  <a:pt x="0" y="4461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002" t="-23446" r="-27292" b="-6065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418771" y="2967073"/>
            <a:ext cx="8164863" cy="5746466"/>
          </a:xfrm>
          <a:custGeom>
            <a:avLst/>
            <a:gdLst/>
            <a:ahLst/>
            <a:cxnLst/>
            <a:rect l="l" t="t" r="r" b="b"/>
            <a:pathLst>
              <a:path w="8164863" h="5746466">
                <a:moveTo>
                  <a:pt x="0" y="0"/>
                </a:moveTo>
                <a:lnTo>
                  <a:pt x="8164863" y="0"/>
                </a:lnTo>
                <a:lnTo>
                  <a:pt x="8164863" y="5746466"/>
                </a:lnTo>
                <a:lnTo>
                  <a:pt x="0" y="5746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033" t="-6820" r="-21454" b="-705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6" y="1521577"/>
            <a:ext cx="11895607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Binary Classification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xmlns="" id="{AECD67BB-3723-2AF2-ADE3-4F7C643B0BBA}"/>
              </a:ext>
            </a:extLst>
          </p:cNvPr>
          <p:cNvSpPr txBox="1"/>
          <p:nvPr/>
        </p:nvSpPr>
        <p:spPr>
          <a:xfrm>
            <a:off x="9094267" y="8541665"/>
            <a:ext cx="6045853" cy="343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3"/>
              </a:lnSpc>
              <a:spcBef>
                <a:spcPct val="0"/>
              </a:spcBef>
            </a:pPr>
            <a:r>
              <a:rPr lang="en-ID" b="0" i="0" dirty="0">
                <a:solidFill>
                  <a:srgbClr val="074364"/>
                </a:solidFill>
                <a:effectLst/>
                <a:latin typeface="Raleway" pitchFamily="2" charset="0"/>
              </a:rPr>
              <a:t>Image Source </a:t>
            </a:r>
            <a:r>
              <a:rPr lang="en-US" dirty="0">
                <a:solidFill>
                  <a:srgbClr val="08377C"/>
                </a:solidFill>
                <a:latin typeface="Raleway" pitchFamily="2" charset="0"/>
                <a:ea typeface="Montserrat Classic"/>
                <a:cs typeface="Montserrat Classic"/>
                <a:sym typeface="Montserrat Classic"/>
              </a:rPr>
              <a:t>: </a:t>
            </a:r>
            <a:r>
              <a:rPr lang="en-US" u="sng" dirty="0">
                <a:solidFill>
                  <a:srgbClr val="08377C"/>
                </a:solidFill>
                <a:latin typeface="Raleway" pitchFamily="2" charset="0"/>
                <a:ea typeface="Montserrat Classic"/>
                <a:cs typeface="Montserrat Classic"/>
                <a:sym typeface="Montserrat Classic"/>
              </a:rPr>
              <a:t>https://www.dicoding.com/ </a:t>
            </a:r>
          </a:p>
        </p:txBody>
      </p:sp>
    </p:spTree>
    <p:extLst>
      <p:ext uri="{BB962C8B-B14F-4D97-AF65-F5344CB8AC3E}">
        <p14:creationId xmlns:p14="http://schemas.microsoft.com/office/powerpoint/2010/main" val="23440185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6" y="1521577"/>
            <a:ext cx="11895607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Multiclass Classification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14487D24-80AC-05AA-9C0D-9AE466CFD3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0" t="22445" r="21945"/>
          <a:stretch/>
        </p:blipFill>
        <p:spPr bwMode="auto">
          <a:xfrm>
            <a:off x="1277238" y="2920031"/>
            <a:ext cx="5816576" cy="473807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2">
            <a:extLst>
              <a:ext uri="{FF2B5EF4-FFF2-40B4-BE49-F238E27FC236}">
                <a16:creationId xmlns:a16="http://schemas.microsoft.com/office/drawing/2014/main" xmlns="" id="{419904CD-F321-4C74-08E7-4EE6E97851E5}"/>
              </a:ext>
            </a:extLst>
          </p:cNvPr>
          <p:cNvSpPr txBox="1"/>
          <p:nvPr/>
        </p:nvSpPr>
        <p:spPr>
          <a:xfrm>
            <a:off x="8001000" y="7486227"/>
            <a:ext cx="6045853" cy="343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3"/>
              </a:lnSpc>
              <a:spcBef>
                <a:spcPct val="0"/>
              </a:spcBef>
            </a:pPr>
            <a:r>
              <a:rPr lang="en-ID" b="0" i="0" dirty="0">
                <a:solidFill>
                  <a:srgbClr val="074364"/>
                </a:solidFill>
                <a:effectLst/>
                <a:latin typeface="Raleway" pitchFamily="2" charset="0"/>
              </a:rPr>
              <a:t>Image Source </a:t>
            </a:r>
            <a:r>
              <a:rPr lang="en-US" dirty="0">
                <a:solidFill>
                  <a:srgbClr val="08377C"/>
                </a:solidFill>
                <a:latin typeface="Raleway" pitchFamily="2" charset="0"/>
                <a:ea typeface="Montserrat Classic"/>
                <a:cs typeface="Montserrat Classic"/>
                <a:sym typeface="Montserrat Classic"/>
              </a:rPr>
              <a:t>: </a:t>
            </a:r>
            <a:r>
              <a:rPr lang="en-US" u="sng" dirty="0">
                <a:solidFill>
                  <a:srgbClr val="08377C"/>
                </a:solidFill>
                <a:latin typeface="Raleway" pitchFamily="2" charset="0"/>
                <a:ea typeface="Montserrat Classic"/>
                <a:cs typeface="Montserrat Classic"/>
                <a:sym typeface="Montserrat Classic"/>
              </a:rPr>
              <a:t>https://www.dicoding.com/ 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xmlns="" id="{0222E58F-025D-5F80-3B39-97A7FD224A8F}"/>
              </a:ext>
            </a:extLst>
          </p:cNvPr>
          <p:cNvSpPr/>
          <p:nvPr/>
        </p:nvSpPr>
        <p:spPr>
          <a:xfrm>
            <a:off x="8382000" y="337142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16959925" h="7759166">
                <a:moveTo>
                  <a:pt x="0" y="0"/>
                </a:moveTo>
                <a:lnTo>
                  <a:pt x="16959925" y="0"/>
                </a:lnTo>
                <a:lnTo>
                  <a:pt x="16959925" y="7759166"/>
                </a:lnTo>
                <a:lnTo>
                  <a:pt x="0" y="7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6193" t="-25644" r="-128679" b="-13060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7309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277236" y="2629501"/>
            <a:ext cx="15591442" cy="408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556" spc="76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Multilabel classification is a method that allows data to be categorized into more than one label or category at a time. Unlike multiclass classification, which limits data to only one category from several options, multilabel classification provides greater flexibility by allowing a single data sample to have multiple labels.</a:t>
            </a:r>
          </a:p>
          <a:p>
            <a:pPr algn="l">
              <a:lnSpc>
                <a:spcPts val="4116"/>
              </a:lnSpc>
            </a:pPr>
            <a:endParaRPr lang="en-US" sz="2556" spc="76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16"/>
              </a:lnSpc>
            </a:pPr>
            <a:r>
              <a:rPr lang="en-US" sz="2556" spc="76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</a:p>
          <a:p>
            <a:pPr algn="l">
              <a:lnSpc>
                <a:spcPts val="4116"/>
              </a:lnSpc>
            </a:pPr>
            <a:r>
              <a:rPr lang="en-US" sz="2556" b="1" spc="76" dirty="0">
                <a:solidFill>
                  <a:srgbClr val="08377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Tagging a news article</a:t>
            </a:r>
          </a:p>
          <a:p>
            <a:pPr marL="0" lvl="0" indent="0" algn="l">
              <a:lnSpc>
                <a:spcPts val="4116"/>
              </a:lnSpc>
            </a:pPr>
            <a:endParaRPr lang="en-US" sz="2556" b="1" spc="76" dirty="0">
              <a:solidFill>
                <a:srgbClr val="08377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7120183" y="6232014"/>
            <a:ext cx="3151262" cy="3136744"/>
          </a:xfrm>
          <a:custGeom>
            <a:avLst/>
            <a:gdLst/>
            <a:ahLst/>
            <a:cxnLst/>
            <a:rect l="l" t="t" r="r" b="b"/>
            <a:pathLst>
              <a:path w="3151262" h="3136744">
                <a:moveTo>
                  <a:pt x="0" y="0"/>
                </a:moveTo>
                <a:lnTo>
                  <a:pt x="3151262" y="0"/>
                </a:lnTo>
                <a:lnTo>
                  <a:pt x="3151262" y="3136745"/>
                </a:lnTo>
                <a:lnTo>
                  <a:pt x="0" y="3136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179842" y="6921791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51416" y="1521577"/>
            <a:ext cx="11895607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Multilabel Classification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9920" y="7081154"/>
            <a:ext cx="2099456" cy="485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031" lvl="1" indent="-276016" algn="l">
              <a:lnSpc>
                <a:spcPts val="4116"/>
              </a:lnSpc>
              <a:buFont typeface="Arial"/>
              <a:buChar char="•"/>
            </a:pPr>
            <a:r>
              <a:rPr lang="en-US" sz="2556" spc="7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Politics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09920" y="7583383"/>
            <a:ext cx="2271877" cy="485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031" lvl="1" indent="-276016" algn="l">
              <a:lnSpc>
                <a:spcPts val="4116"/>
              </a:lnSpc>
              <a:buFont typeface="Arial"/>
              <a:buChar char="•"/>
            </a:pPr>
            <a:r>
              <a:rPr lang="en-US" sz="2556" spc="76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Economy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09920" y="8073585"/>
            <a:ext cx="3133985" cy="485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031" lvl="1" indent="-276016" algn="l">
              <a:lnSpc>
                <a:spcPts val="4116"/>
              </a:lnSpc>
              <a:buFont typeface="Arial"/>
              <a:buChar char="•"/>
            </a:pPr>
            <a:r>
              <a:rPr lang="en-US" sz="2556" spc="76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xmlns="" id="{FCDC917F-9C56-FEFE-BD45-D7FE675BB470}"/>
              </a:ext>
            </a:extLst>
          </p:cNvPr>
          <p:cNvSpPr/>
          <p:nvPr/>
        </p:nvSpPr>
        <p:spPr>
          <a:xfrm>
            <a:off x="5470333" y="7510683"/>
            <a:ext cx="1575483" cy="879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xmlns="" id="{81E24674-3B3E-3862-AD9F-CC20D8C20B1F}"/>
              </a:ext>
            </a:extLst>
          </p:cNvPr>
          <p:cNvSpPr/>
          <p:nvPr/>
        </p:nvSpPr>
        <p:spPr>
          <a:xfrm>
            <a:off x="10365543" y="7510683"/>
            <a:ext cx="1575483" cy="879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FFA2F67-34E0-89AE-80F8-7F7455474CFE}"/>
              </a:ext>
            </a:extLst>
          </p:cNvPr>
          <p:cNvSpPr txBox="1"/>
          <p:nvPr/>
        </p:nvSpPr>
        <p:spPr>
          <a:xfrm>
            <a:off x="3179842" y="9184092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ontserrat" panose="00000500000000000000" pitchFamily="2" charset="0"/>
              </a:rPr>
              <a:t>News Article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D57B1FF-4174-EDED-1289-B6C781ABA3A5}"/>
              </a:ext>
            </a:extLst>
          </p:cNvPr>
          <p:cNvSpPr txBox="1"/>
          <p:nvPr/>
        </p:nvSpPr>
        <p:spPr>
          <a:xfrm>
            <a:off x="12514690" y="8979191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ontserrat" panose="00000500000000000000" pitchFamily="2" charset="0"/>
              </a:rPr>
              <a:t>Tag</a:t>
            </a:r>
          </a:p>
        </p:txBody>
      </p:sp>
    </p:spTree>
    <p:extLst>
      <p:ext uri="{BB962C8B-B14F-4D97-AF65-F5344CB8AC3E}">
        <p14:creationId xmlns:p14="http://schemas.microsoft.com/office/powerpoint/2010/main" val="316697801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xmlns="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xmlns="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88229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 smtClean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 Classification</a:t>
            </a:r>
            <a:endParaRPr lang="en-US" sz="5035" b="1" u="none" strike="noStrike" spc="181" dirty="0">
              <a:solidFill>
                <a:srgbClr val="2A2E3A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xmlns="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Machine Learning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xmlns="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xmlns="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 smtClean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0000" spc="9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4829602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1416" y="1565597"/>
            <a:ext cx="1326938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 Classification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6" name="AutoShape 2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4229100"/>
            <a:ext cx="7141308" cy="3276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57700"/>
            <a:ext cx="5735778" cy="2779452"/>
          </a:xfrm>
          <a:prstGeom prst="rect">
            <a:avLst/>
          </a:prstGeom>
        </p:spPr>
      </p:pic>
      <p:sp>
        <p:nvSpPr>
          <p:cNvPr id="16" name="TextBox 12">
            <a:extLst>
              <a:ext uri="{FF2B5EF4-FFF2-40B4-BE49-F238E27FC236}">
                <a16:creationId xmlns:a16="http://schemas.microsoft.com/office/drawing/2014/main" xmlns="" id="{74594AEC-A91E-0615-E07B-C5E79CD06BBB}"/>
              </a:ext>
            </a:extLst>
          </p:cNvPr>
          <p:cNvSpPr txBox="1"/>
          <p:nvPr/>
        </p:nvSpPr>
        <p:spPr>
          <a:xfrm>
            <a:off x="293190" y="3438626"/>
            <a:ext cx="275481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3200" b="1" spc="145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</a:t>
            </a:r>
            <a:endParaRPr lang="en-US" sz="32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xmlns="" id="{74594AEC-A91E-0615-E07B-C5E79CD06BBB}"/>
              </a:ext>
            </a:extLst>
          </p:cNvPr>
          <p:cNvSpPr txBox="1"/>
          <p:nvPr/>
        </p:nvSpPr>
        <p:spPr>
          <a:xfrm>
            <a:off x="9296400" y="3438626"/>
            <a:ext cx="51816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3200" b="1" spc="145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Decision Tree</a:t>
            </a:r>
            <a:endParaRPr lang="en-US" sz="32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  <p:extLst>
      <p:ext uri="{BB962C8B-B14F-4D97-AF65-F5344CB8AC3E}">
        <p14:creationId xmlns:p14="http://schemas.microsoft.com/office/powerpoint/2010/main" val="206538656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1416" y="1565597"/>
            <a:ext cx="1326938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 Classification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6" name="AutoShape 2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xmlns="" id="{74594AEC-A91E-0615-E07B-C5E79CD06BBB}"/>
              </a:ext>
            </a:extLst>
          </p:cNvPr>
          <p:cNvSpPr txBox="1"/>
          <p:nvPr/>
        </p:nvSpPr>
        <p:spPr>
          <a:xfrm>
            <a:off x="293190" y="3438626"/>
            <a:ext cx="702201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3200" b="1" spc="145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Random Forest</a:t>
            </a:r>
            <a:endParaRPr lang="en-US" sz="32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xmlns="" id="{74594AEC-A91E-0615-E07B-C5E79CD06BBB}"/>
              </a:ext>
            </a:extLst>
          </p:cNvPr>
          <p:cNvSpPr txBox="1"/>
          <p:nvPr/>
        </p:nvSpPr>
        <p:spPr>
          <a:xfrm>
            <a:off x="8534400" y="3438626"/>
            <a:ext cx="8596045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3200" b="1" spc="145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4. Support Vector Machine (SVM)</a:t>
            </a:r>
            <a:endParaRPr lang="en-US" sz="32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4098" name="Picture 2" descr="10 Must-Know Models for ML Beginners: Random Forest | by Dagang Wei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06" y="4114318"/>
            <a:ext cx="6753857" cy="415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support vector mach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4304188"/>
            <a:ext cx="5322972" cy="377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531072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1416" y="1565597"/>
            <a:ext cx="1326938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 Classification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6" name="AutoShape 2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xmlns="" id="{74594AEC-A91E-0615-E07B-C5E79CD06BBB}"/>
              </a:ext>
            </a:extLst>
          </p:cNvPr>
          <p:cNvSpPr txBox="1"/>
          <p:nvPr/>
        </p:nvSpPr>
        <p:spPr>
          <a:xfrm>
            <a:off x="293190" y="3438626"/>
            <a:ext cx="7022010" cy="589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3200" b="1" spc="145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5. Naïve Bayes</a:t>
            </a:r>
            <a:endParaRPr lang="en-US" sz="32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5122" name="Picture 2" descr="What is the Naive Bayes Algorithm? | Data Baseca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29" y="4305300"/>
            <a:ext cx="5352270" cy="370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586931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xmlns="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xmlns="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88229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 smtClean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</a:t>
            </a:r>
            <a:endParaRPr lang="en-US" sz="5035" b="1" u="none" strike="noStrike" spc="181" dirty="0">
              <a:solidFill>
                <a:srgbClr val="2A2E3A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xmlns="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</a:t>
            </a:r>
            <a:r>
              <a:rPr lang="en-US" sz="6792" b="1" spc="224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xmlns="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xmlns="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 smtClean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0000" spc="9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81736235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?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86100"/>
            <a:ext cx="7971693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52599" y="7353300"/>
            <a:ext cx="149618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Montserrat" panose="020B0604020202020204" charset="0"/>
              </a:rPr>
              <a:t>KNN (K-Nearest Neighbor) </a:t>
            </a:r>
            <a:r>
              <a:rPr lang="en-US" sz="2400" dirty="0" err="1">
                <a:latin typeface="Montserrat" panose="020B0604020202020204" charset="0"/>
              </a:rPr>
              <a:t>adalah</a:t>
            </a:r>
            <a:r>
              <a:rPr lang="en-US" sz="2400" dirty="0">
                <a:latin typeface="Montserrat" panose="020B0604020202020204" charset="0"/>
              </a:rPr>
              <a:t> </a:t>
            </a:r>
            <a:r>
              <a:rPr lang="en-US" sz="2400" dirty="0" err="1">
                <a:latin typeface="Montserrat" panose="020B0604020202020204" charset="0"/>
              </a:rPr>
              <a:t>salah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satu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algoritma</a:t>
            </a:r>
            <a:r>
              <a:rPr lang="en-US" sz="2400" b="1" dirty="0">
                <a:latin typeface="Montserrat" panose="020B0604020202020204" charset="0"/>
              </a:rPr>
              <a:t> machine learning yang </a:t>
            </a:r>
            <a:r>
              <a:rPr lang="en-US" sz="2400" b="1" dirty="0" err="1">
                <a:latin typeface="Montserrat" panose="020B0604020202020204" charset="0"/>
              </a:rPr>
              <a:t>digunakan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untuk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melakukan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klasifikasi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pada</a:t>
            </a:r>
            <a:r>
              <a:rPr lang="en-US" sz="2400" b="1" dirty="0">
                <a:latin typeface="Montserrat" panose="020B0604020202020204" charset="0"/>
              </a:rPr>
              <a:t> data</a:t>
            </a:r>
            <a:r>
              <a:rPr lang="en-US" sz="2400" dirty="0">
                <a:latin typeface="Montserrat" panose="020B0604020202020204" charset="0"/>
              </a:rPr>
              <a:t>. </a:t>
            </a:r>
            <a:r>
              <a:rPr lang="en-US" sz="2400" dirty="0" err="1">
                <a:latin typeface="Montserrat" panose="020B0604020202020204" charset="0"/>
              </a:rPr>
              <a:t>Algoritma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ini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bekerja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berdasarkan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prinsip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bahwa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objek</a:t>
            </a:r>
            <a:r>
              <a:rPr lang="en-US" sz="2400" b="1" dirty="0">
                <a:latin typeface="Montserrat" panose="020B0604020202020204" charset="0"/>
              </a:rPr>
              <a:t> yang </a:t>
            </a:r>
            <a:r>
              <a:rPr lang="en-US" sz="2400" b="1" dirty="0" err="1">
                <a:latin typeface="Montserrat" panose="020B0604020202020204" charset="0"/>
              </a:rPr>
              <a:t>mirip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cenderung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berada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dalam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jarak</a:t>
            </a:r>
            <a:r>
              <a:rPr lang="en-US" sz="2400" b="1" dirty="0">
                <a:latin typeface="Montserrat" panose="020B0604020202020204" charset="0"/>
              </a:rPr>
              <a:t> yang </a:t>
            </a:r>
            <a:r>
              <a:rPr lang="en-US" sz="2400" b="1" dirty="0" err="1">
                <a:latin typeface="Montserrat" panose="020B0604020202020204" charset="0"/>
              </a:rPr>
              <a:t>dekat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satu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sama</a:t>
            </a:r>
            <a:r>
              <a:rPr lang="en-US" sz="2400" b="1" dirty="0">
                <a:latin typeface="Montserrat" panose="020B0604020202020204" charset="0"/>
              </a:rPr>
              <a:t> lain</a:t>
            </a:r>
            <a:r>
              <a:rPr lang="en-US" sz="2400" dirty="0">
                <a:latin typeface="Montserrat" panose="020B060402020202020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68276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208157011"/>
              </p:ext>
            </p:extLst>
          </p:nvPr>
        </p:nvGraphicFramePr>
        <p:xfrm>
          <a:off x="4724400" y="1301688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4"/>
          <p:cNvSpPr txBox="1"/>
          <p:nvPr/>
        </p:nvSpPr>
        <p:spPr>
          <a:xfrm>
            <a:off x="914400" y="3467100"/>
            <a:ext cx="3962400" cy="3739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5400" b="1" spc="145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Parameter </a:t>
            </a:r>
            <a:r>
              <a:rPr lang="en-US" sz="5400" b="1" spc="145" dirty="0" err="1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Utama</a:t>
            </a:r>
            <a:r>
              <a:rPr lang="en-US" sz="5400" b="1" spc="145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KNN</a:t>
            </a:r>
            <a:endParaRPr lang="en-US" sz="5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  <p:extLst>
      <p:ext uri="{BB962C8B-B14F-4D97-AF65-F5344CB8AC3E}">
        <p14:creationId xmlns:p14="http://schemas.microsoft.com/office/powerpoint/2010/main" val="2883186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 err="1">
                <a:solidFill>
                  <a:srgbClr val="08377C"/>
                </a:solidFill>
              </a:rPr>
              <a:t>Jumlah</a:t>
            </a:r>
            <a:r>
              <a:rPr lang="en-US" sz="3200" b="1" dirty="0">
                <a:solidFill>
                  <a:srgbClr val="08377C"/>
                </a:solidFill>
              </a:rPr>
              <a:t> </a:t>
            </a:r>
            <a:r>
              <a:rPr lang="en-US" sz="3200" b="1" dirty="0" err="1">
                <a:solidFill>
                  <a:srgbClr val="08377C"/>
                </a:solidFill>
              </a:rPr>
              <a:t>Tetangga</a:t>
            </a:r>
            <a:r>
              <a:rPr lang="en-US" sz="3200" b="1" dirty="0">
                <a:solidFill>
                  <a:srgbClr val="08377C"/>
                </a:solidFill>
              </a:rPr>
              <a:t> (K) </a:t>
            </a:r>
            <a:r>
              <a:rPr lang="en-US" sz="3200" b="1" dirty="0" err="1">
                <a:solidFill>
                  <a:srgbClr val="08377C"/>
                </a:solidFill>
              </a:rPr>
              <a:t>atau</a:t>
            </a:r>
            <a:r>
              <a:rPr lang="en-US" sz="3200" b="1" dirty="0">
                <a:solidFill>
                  <a:srgbClr val="08377C"/>
                </a:solidFill>
              </a:rPr>
              <a:t> </a:t>
            </a:r>
            <a:r>
              <a:rPr lang="en-US" sz="3200" b="1" dirty="0" err="1">
                <a:solidFill>
                  <a:srgbClr val="08377C"/>
                </a:solidFill>
              </a:rPr>
              <a:t>n_neighbors</a:t>
            </a:r>
            <a:r>
              <a:rPr lang="en-US" sz="3200" b="1" dirty="0">
                <a:solidFill>
                  <a:srgbClr val="08377C"/>
                </a:solidFill>
              </a:rPr>
              <a:t> (default = 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045156"/>
            <a:ext cx="1496182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Montserrat" panose="020B0604020202020204" charset="0"/>
              </a:rPr>
              <a:t>Nilai</a:t>
            </a:r>
            <a:r>
              <a:rPr lang="en-US" sz="2800" b="1" dirty="0">
                <a:latin typeface="Montserrat" panose="020B0604020202020204" charset="0"/>
              </a:rPr>
              <a:t> K Kecil: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 err="1">
                <a:solidFill>
                  <a:srgbClr val="FF0000"/>
                </a:solidFill>
                <a:latin typeface="Montserrat" panose="020B0604020202020204" charset="0"/>
              </a:rPr>
              <a:t>Jika</a:t>
            </a:r>
            <a:r>
              <a:rPr lang="en-US" sz="2800" i="1" dirty="0">
                <a:solidFill>
                  <a:srgbClr val="FF0000"/>
                </a:solidFill>
                <a:latin typeface="Montserrat" panose="020B0604020202020204" charset="0"/>
              </a:rPr>
              <a:t> K </a:t>
            </a:r>
            <a:r>
              <a:rPr lang="en-US" sz="2800" i="1" dirty="0" err="1">
                <a:solidFill>
                  <a:srgbClr val="FF0000"/>
                </a:solidFill>
                <a:latin typeface="Montserrat" panose="020B0604020202020204" charset="0"/>
              </a:rPr>
              <a:t>terlalu</a:t>
            </a:r>
            <a:r>
              <a:rPr lang="en-US" sz="2800" i="1" dirty="0">
                <a:solidFill>
                  <a:srgbClr val="FF0000"/>
                </a:solidFill>
                <a:latin typeface="Montserrat" panose="020B0604020202020204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Montserrat" panose="020B0604020202020204" charset="0"/>
              </a:rPr>
              <a:t>kecil</a:t>
            </a:r>
            <a:r>
              <a:rPr lang="en-US" sz="2800" i="1" dirty="0">
                <a:solidFill>
                  <a:srgbClr val="FF0000"/>
                </a:solidFill>
                <a:latin typeface="Montserrat" panose="020B0604020202020204" charset="0"/>
              </a:rPr>
              <a:t> (</a:t>
            </a:r>
            <a:r>
              <a:rPr lang="en-US" sz="2800" i="1" dirty="0" err="1">
                <a:solidFill>
                  <a:srgbClr val="FF0000"/>
                </a:solidFill>
                <a:latin typeface="Montserrat" panose="020B0604020202020204" charset="0"/>
              </a:rPr>
              <a:t>misalnya</a:t>
            </a:r>
            <a:r>
              <a:rPr lang="en-US" sz="2800" i="1" dirty="0">
                <a:solidFill>
                  <a:srgbClr val="FF0000"/>
                </a:solidFill>
                <a:latin typeface="Montserrat" panose="020B0604020202020204" charset="0"/>
              </a:rPr>
              <a:t>, K = 1), </a:t>
            </a:r>
            <a:r>
              <a:rPr lang="en-US" sz="2800" dirty="0">
                <a:latin typeface="Montserrat" panose="020B0604020202020204" charset="0"/>
              </a:rPr>
              <a:t>model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sangat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sensitif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terhadap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>
                <a:latin typeface="Montserrat" panose="020B0604020202020204" charset="0"/>
              </a:rPr>
              <a:t>noise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>
                <a:latin typeface="Montserrat" panose="020B0604020202020204" charset="0"/>
              </a:rPr>
              <a:t>outlier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karena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hanya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mempertimbangkan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satu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sering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menyebabkan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 err="1">
                <a:latin typeface="Montserrat" panose="020B0604020202020204" charset="0"/>
              </a:rPr>
              <a:t>overfitting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karena</a:t>
            </a:r>
            <a:r>
              <a:rPr lang="en-US" sz="2800" dirty="0">
                <a:latin typeface="Montserrat" panose="020B0604020202020204" charset="0"/>
              </a:rPr>
              <a:t> model </a:t>
            </a:r>
            <a:r>
              <a:rPr lang="en-US" sz="2800" dirty="0" err="1">
                <a:latin typeface="Montserrat" panose="020B0604020202020204" charset="0"/>
              </a:rPr>
              <a:t>terlalu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sesuai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pelatihan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kurang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mampu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generalisasi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pada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baru</a:t>
            </a:r>
            <a:r>
              <a:rPr lang="en-US" sz="2800" dirty="0" smtClean="0">
                <a:latin typeface="Montserrat" panose="020B060402020202020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20B060402020202020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Montserrat" panose="020B0604020202020204" charset="0"/>
              </a:rPr>
              <a:t>Nilai</a:t>
            </a:r>
            <a:r>
              <a:rPr lang="en-US" sz="2800" b="1" dirty="0">
                <a:latin typeface="Montserrat" panose="020B0604020202020204" charset="0"/>
              </a:rPr>
              <a:t> K </a:t>
            </a:r>
            <a:r>
              <a:rPr lang="en-US" sz="2800" b="1" dirty="0" err="1">
                <a:latin typeface="Montserrat" panose="020B0604020202020204" charset="0"/>
              </a:rPr>
              <a:t>Besar</a:t>
            </a:r>
            <a:r>
              <a:rPr lang="en-US" sz="2800" b="1" dirty="0">
                <a:latin typeface="Montserrat" panose="020B0604020202020204" charset="0"/>
              </a:rPr>
              <a:t>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 err="1">
                <a:solidFill>
                  <a:srgbClr val="08377C"/>
                </a:solidFill>
                <a:latin typeface="Montserrat" panose="020B0604020202020204" charset="0"/>
              </a:rPr>
              <a:t>Jika</a:t>
            </a:r>
            <a:r>
              <a:rPr lang="en-US" sz="2800" i="1" dirty="0">
                <a:solidFill>
                  <a:srgbClr val="08377C"/>
                </a:solidFill>
                <a:latin typeface="Montserrat" panose="020B0604020202020204" charset="0"/>
              </a:rPr>
              <a:t> K </a:t>
            </a:r>
            <a:r>
              <a:rPr lang="en-US" sz="2800" i="1" dirty="0" err="1">
                <a:solidFill>
                  <a:srgbClr val="08377C"/>
                </a:solidFill>
                <a:latin typeface="Montserrat" panose="020B0604020202020204" charset="0"/>
              </a:rPr>
              <a:t>terlalu</a:t>
            </a:r>
            <a:r>
              <a:rPr lang="en-US" sz="2800" i="1" dirty="0">
                <a:solidFill>
                  <a:srgbClr val="08377C"/>
                </a:solidFill>
                <a:latin typeface="Montserrat" panose="020B0604020202020204" charset="0"/>
              </a:rPr>
              <a:t> </a:t>
            </a:r>
            <a:r>
              <a:rPr lang="en-US" sz="2800" i="1" dirty="0" err="1">
                <a:solidFill>
                  <a:srgbClr val="08377C"/>
                </a:solidFill>
                <a:latin typeface="Montserrat" panose="020B0604020202020204" charset="0"/>
              </a:rPr>
              <a:t>besar</a:t>
            </a:r>
            <a:r>
              <a:rPr lang="en-US" sz="2800" i="1" dirty="0">
                <a:solidFill>
                  <a:srgbClr val="08377C"/>
                </a:solidFill>
                <a:latin typeface="Montserrat" panose="020B0604020202020204" charset="0"/>
              </a:rPr>
              <a:t> (</a:t>
            </a:r>
            <a:r>
              <a:rPr lang="en-US" sz="2800" i="1" dirty="0" err="1">
                <a:solidFill>
                  <a:srgbClr val="08377C"/>
                </a:solidFill>
                <a:latin typeface="Montserrat" panose="020B0604020202020204" charset="0"/>
              </a:rPr>
              <a:t>misalnya</a:t>
            </a:r>
            <a:r>
              <a:rPr lang="en-US" sz="2800" i="1" dirty="0">
                <a:solidFill>
                  <a:srgbClr val="08377C"/>
                </a:solidFill>
                <a:latin typeface="Montserrat" panose="020B0604020202020204" charset="0"/>
              </a:rPr>
              <a:t>, K = 20)</a:t>
            </a:r>
            <a:r>
              <a:rPr lang="en-US" sz="2800" dirty="0">
                <a:latin typeface="Montserrat" panose="020B0604020202020204" charset="0"/>
              </a:rPr>
              <a:t>, model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stabil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kurang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terpengaruh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oleh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>
                <a:latin typeface="Montserrat" panose="020B0604020202020204" charset="0"/>
              </a:rPr>
              <a:t>noise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tetapi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terlalu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umum</a:t>
            </a:r>
            <a:r>
              <a:rPr lang="en-US" sz="2800" dirty="0">
                <a:latin typeface="Montserrat" panose="020B0604020202020204" charset="0"/>
              </a:rPr>
              <a:t> (</a:t>
            </a:r>
            <a:r>
              <a:rPr lang="en-US" sz="2800" i="1" dirty="0" err="1">
                <a:latin typeface="Montserrat" panose="020B0604020202020204" charset="0"/>
              </a:rPr>
              <a:t>underfitting</a:t>
            </a:r>
            <a:r>
              <a:rPr lang="en-US" sz="2800" dirty="0">
                <a:latin typeface="Montserrat" panose="020B0604020202020204" charset="0"/>
              </a:rPr>
              <a:t>).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memengaruhi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hasil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berdasarkan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jauh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mengabaikan</a:t>
            </a:r>
            <a:r>
              <a:rPr lang="en-US" sz="2800" dirty="0">
                <a:latin typeface="Montserrat" panose="020B0604020202020204" charset="0"/>
              </a:rPr>
              <a:t> detail </a:t>
            </a:r>
            <a:r>
              <a:rPr lang="en-US" sz="2800" dirty="0" err="1">
                <a:latin typeface="Montserrat" panose="020B0604020202020204" charset="0"/>
              </a:rPr>
              <a:t>penting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dari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pelatihan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5108097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 descr="dos-a369fe173701f0d0704d4581736a0b3d20241015142620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681" y="4505482"/>
            <a:ext cx="5367710" cy="253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 smtClean="0">
                <a:solidFill>
                  <a:srgbClr val="08377C"/>
                </a:solidFill>
              </a:rPr>
              <a:t>2. Metric </a:t>
            </a:r>
            <a:r>
              <a:rPr lang="en-US" sz="3200" b="1" dirty="0" err="1">
                <a:solidFill>
                  <a:srgbClr val="08377C"/>
                </a:solidFill>
              </a:rPr>
              <a:t>Jarak</a:t>
            </a:r>
            <a:r>
              <a:rPr lang="en-US" sz="3200" b="1" dirty="0">
                <a:solidFill>
                  <a:srgbClr val="08377C"/>
                </a:solidFill>
              </a:rPr>
              <a:t> (default = </a:t>
            </a:r>
            <a:r>
              <a:rPr lang="en-US" sz="3200" b="1" dirty="0" err="1">
                <a:solidFill>
                  <a:srgbClr val="08377C"/>
                </a:solidFill>
              </a:rPr>
              <a:t>minkowski</a:t>
            </a:r>
            <a:r>
              <a:rPr lang="en-US" sz="3200" b="1" dirty="0">
                <a:solidFill>
                  <a:srgbClr val="08377C"/>
                </a:solidFill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045156"/>
            <a:ext cx="14961827" cy="1963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20B0604020202020204" charset="0"/>
              </a:rPr>
              <a:t>Metrik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digunakan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mengukur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seberapa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atau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mirip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dua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titik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ruang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fitur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Metrik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berbeda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mengukur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atau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kesamaan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cara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berbeda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memengaruhi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pemilihan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terdekat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</p:txBody>
      </p:sp>
      <p:pic>
        <p:nvPicPr>
          <p:cNvPr id="6146" name="Picture 2" descr="dos-c9863be676998a6770ea50ed285154c920241015141900.jpe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85" y="4447358"/>
            <a:ext cx="5310000" cy="252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37812" y="6695591"/>
            <a:ext cx="3467588" cy="501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smtClean="0">
                <a:latin typeface="Montserrat" panose="020B0604020202020204" charset="0"/>
              </a:rPr>
              <a:t>Euclidean Distance</a:t>
            </a:r>
            <a:endParaRPr lang="en-US" sz="2000" b="1" dirty="0">
              <a:latin typeface="Montserrat" panose="020B0604020202020204" charset="0"/>
            </a:endParaRPr>
          </a:p>
        </p:txBody>
      </p:sp>
      <p:pic>
        <p:nvPicPr>
          <p:cNvPr id="6148" name="Picture 4" descr="dos-d0faaa6adf7d2a0b981d677a25d1e09820241015142536.jpe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447358"/>
            <a:ext cx="5831108" cy="253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6744360" y="6739338"/>
            <a:ext cx="34675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smtClean="0">
                <a:latin typeface="Montserrat" panose="020B0604020202020204" charset="0"/>
              </a:rPr>
              <a:t>Manhattan Distance</a:t>
            </a:r>
            <a:endParaRPr lang="en-US" sz="2000" b="1" dirty="0">
              <a:latin typeface="Montserrat" panose="020B06040202020202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836089" y="6758950"/>
            <a:ext cx="3467588" cy="501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 smtClean="0">
                <a:latin typeface="Montserrat" panose="020B0604020202020204" charset="0"/>
              </a:rPr>
              <a:t>Minkowski</a:t>
            </a:r>
            <a:r>
              <a:rPr lang="en-US" sz="2000" b="1" dirty="0" smtClean="0">
                <a:latin typeface="Montserrat" panose="020B0604020202020204" charset="0"/>
              </a:rPr>
              <a:t> Distance</a:t>
            </a:r>
            <a:endParaRPr lang="en-US" sz="2000" b="1" dirty="0">
              <a:latin typeface="Montserrat" panose="020B06040202020202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56135" y="7365486"/>
            <a:ext cx="43064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latin typeface="Montserrat" panose="020B0604020202020204" charset="0"/>
              </a:rPr>
              <a:t>mengukur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jarak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garis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lurus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antara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dua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titik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dalam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ruang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fitur</a:t>
            </a:r>
            <a:r>
              <a:rPr lang="en-US" dirty="0">
                <a:latin typeface="Montserrat" panose="020B0604020202020204" charset="0"/>
              </a:rPr>
              <a:t>. </a:t>
            </a:r>
            <a:r>
              <a:rPr lang="en-US" dirty="0" err="1">
                <a:latin typeface="Montserrat" panose="020B0604020202020204" charset="0"/>
              </a:rPr>
              <a:t>Ini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adalah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jenis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jarak</a:t>
            </a:r>
            <a:r>
              <a:rPr lang="en-US" dirty="0">
                <a:latin typeface="Montserrat" panose="020B0604020202020204" charset="0"/>
              </a:rPr>
              <a:t> yang paling </a:t>
            </a:r>
            <a:r>
              <a:rPr lang="en-US" dirty="0" err="1">
                <a:latin typeface="Montserrat" panose="020B0604020202020204" charset="0"/>
              </a:rPr>
              <a:t>umum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digunakan</a:t>
            </a:r>
            <a:endParaRPr lang="en-US" dirty="0">
              <a:latin typeface="Montserrat" panose="020B06040202020202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62216" y="7365486"/>
            <a:ext cx="430646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latin typeface="Montserrat" panose="020B0604020202020204" charset="0"/>
              </a:rPr>
              <a:t>mengukur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jarak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berdasarkan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jumlah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perbedaan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sepanjang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sumbu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koordinat</a:t>
            </a:r>
            <a:r>
              <a:rPr lang="en-US" dirty="0">
                <a:latin typeface="Montserrat" panose="020B0604020202020204" charset="0"/>
              </a:rPr>
              <a:t>.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68297" y="7365486"/>
            <a:ext cx="430646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latin typeface="Montserrat" panose="020B0604020202020204" charset="0"/>
              </a:rPr>
              <a:t>Generalisasi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dari</a:t>
            </a:r>
            <a:r>
              <a:rPr lang="en-US" dirty="0">
                <a:latin typeface="Montserrat" panose="020B0604020202020204" charset="0"/>
              </a:rPr>
              <a:t> Euclidean </a:t>
            </a:r>
            <a:r>
              <a:rPr lang="en-US" dirty="0" err="1">
                <a:latin typeface="Montserrat" panose="020B0604020202020204" charset="0"/>
              </a:rPr>
              <a:t>dan</a:t>
            </a:r>
            <a:r>
              <a:rPr lang="en-US" dirty="0">
                <a:latin typeface="Montserrat" panose="020B0604020202020204" charset="0"/>
              </a:rPr>
              <a:t> Manhattan Distance yang </a:t>
            </a:r>
            <a:r>
              <a:rPr lang="en-US" dirty="0" err="1">
                <a:latin typeface="Montserrat" panose="020B0604020202020204" charset="0"/>
              </a:rPr>
              <a:t>bergantung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pada</a:t>
            </a:r>
            <a:r>
              <a:rPr lang="en-US" dirty="0">
                <a:latin typeface="Montserrat" panose="020B0604020202020204" charset="0"/>
              </a:rPr>
              <a:t> parameter p. </a:t>
            </a:r>
          </a:p>
        </p:txBody>
      </p:sp>
    </p:spTree>
    <p:extLst>
      <p:ext uri="{BB962C8B-B14F-4D97-AF65-F5344CB8AC3E}">
        <p14:creationId xmlns:p14="http://schemas.microsoft.com/office/powerpoint/2010/main" val="3543505862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 smtClean="0">
                <a:solidFill>
                  <a:srgbClr val="08377C"/>
                </a:solidFill>
              </a:rPr>
              <a:t>3. </a:t>
            </a:r>
            <a:r>
              <a:rPr lang="en-US" sz="3200" b="1" dirty="0" err="1">
                <a:solidFill>
                  <a:srgbClr val="08377C"/>
                </a:solidFill>
              </a:rPr>
              <a:t>Bobot</a:t>
            </a:r>
            <a:r>
              <a:rPr lang="en-US" sz="3200" b="1" dirty="0">
                <a:solidFill>
                  <a:srgbClr val="08377C"/>
                </a:solidFill>
              </a:rPr>
              <a:t> (</a:t>
            </a:r>
            <a:r>
              <a:rPr lang="en-US" sz="3200" b="1" i="1" dirty="0">
                <a:solidFill>
                  <a:srgbClr val="08377C"/>
                </a:solidFill>
              </a:rPr>
              <a:t>Weights</a:t>
            </a:r>
            <a:r>
              <a:rPr lang="en-US" sz="3200" b="1" dirty="0">
                <a:solidFill>
                  <a:srgbClr val="08377C"/>
                </a:solidFill>
              </a:rPr>
              <a:t>) (default = uniform</a:t>
            </a:r>
            <a:r>
              <a:rPr lang="en-US" sz="3200" b="1" dirty="0" smtClean="0">
                <a:solidFill>
                  <a:srgbClr val="08377C"/>
                </a:solidFill>
              </a:rPr>
              <a:t>)</a:t>
            </a:r>
            <a:endParaRPr lang="en-US" sz="3200" b="1" dirty="0">
              <a:solidFill>
                <a:srgbClr val="08377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43000" y="2045156"/>
            <a:ext cx="14961827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menentukan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seberapa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besar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pengaruh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setiap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tetangga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terdekat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terhadap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keputusan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prediksi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diberikan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memengaruhi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keputusan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akhir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pada</a:t>
            </a:r>
            <a:r>
              <a:rPr lang="en-US" sz="2800" dirty="0">
                <a:latin typeface="Montserrat" panose="020B0604020202020204" charset="0"/>
              </a:rPr>
              <a:t> proses </a:t>
            </a:r>
            <a:r>
              <a:rPr lang="en-US" sz="2800" dirty="0" err="1">
                <a:latin typeface="Montserrat" panose="020B0604020202020204" charset="0"/>
              </a:rPr>
              <a:t>pelatihan</a:t>
            </a:r>
            <a:r>
              <a:rPr lang="en-US" sz="2800" dirty="0">
                <a:latin typeface="Montserrat" panose="020B0604020202020204" charset="0"/>
              </a:rPr>
              <a:t>. Ada </a:t>
            </a:r>
            <a:r>
              <a:rPr lang="en-US" sz="2800" dirty="0" err="1">
                <a:latin typeface="Montserrat" panose="020B0604020202020204" charset="0"/>
              </a:rPr>
              <a:t>dua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jenis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umum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digunakan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20B0604020202020204" charset="0"/>
              </a:rPr>
              <a:t>Uniform: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Setiap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dianggap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memiliki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pengaruh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sama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menentukan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hasil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prediksi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berarti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semua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tidak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peduli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seberapa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atau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jauhnya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memberikan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kontribusi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sama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terhadap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keputusan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akhir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20B0604020202020204" charset="0"/>
              </a:rPr>
              <a:t>Distance: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mendapatkan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besar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artinya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memberikan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kontribusi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signifikan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terhadap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keputusan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prediksi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dihitung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terbalik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sebanding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sehingga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semakin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semakin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besar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pengaruhnya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3429629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 smtClean="0">
                <a:solidFill>
                  <a:srgbClr val="08377C"/>
                </a:solidFill>
                <a:latin typeface="Montserrat" panose="020B0604020202020204" charset="0"/>
              </a:rPr>
              <a:t>4. </a:t>
            </a:r>
            <a:r>
              <a:rPr lang="en-US" sz="3200" b="1" dirty="0" err="1">
                <a:solidFill>
                  <a:srgbClr val="08377C"/>
                </a:solidFill>
                <a:latin typeface="Montserrat" panose="020B0604020202020204" charset="0"/>
              </a:rPr>
              <a:t>Panjang</a:t>
            </a:r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 </a:t>
            </a:r>
            <a:r>
              <a:rPr lang="en-US" sz="3200" b="1" dirty="0" err="1">
                <a:solidFill>
                  <a:srgbClr val="08377C"/>
                </a:solidFill>
                <a:latin typeface="Montserrat" panose="020B0604020202020204" charset="0"/>
              </a:rPr>
              <a:t>Jarak</a:t>
            </a:r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 (Distance Metric Parameters</a:t>
            </a:r>
            <a:r>
              <a:rPr lang="en-US" sz="3200" b="1" dirty="0" smtClean="0">
                <a:solidFill>
                  <a:srgbClr val="08377C"/>
                </a:solidFill>
                <a:latin typeface="Montserrat" panose="020B0604020202020204" charset="0"/>
              </a:rPr>
              <a:t>)</a:t>
            </a:r>
            <a:endParaRPr lang="en-US" sz="3200" b="1" dirty="0">
              <a:solidFill>
                <a:srgbClr val="08377C"/>
              </a:solidFill>
              <a:latin typeface="Montserrat" panose="020B06040202020202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43000" y="1764330"/>
            <a:ext cx="14961827" cy="2604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Montserrat" panose="020B0604020202020204" charset="0"/>
              </a:rPr>
              <a:t>Beberapa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metrik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menggunakan</a:t>
            </a:r>
            <a:r>
              <a:rPr lang="en-US" sz="2800" dirty="0">
                <a:latin typeface="Montserrat" panose="020B0604020202020204" charset="0"/>
              </a:rPr>
              <a:t> parameter </a:t>
            </a:r>
            <a:r>
              <a:rPr lang="en-US" sz="2800" dirty="0" err="1">
                <a:latin typeface="Montserrat" panose="020B0604020202020204" charset="0"/>
              </a:rPr>
              <a:t>tambahan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mengatur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cara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perhitungan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memungkinkan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penyesuaian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metrik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karakteristik</a:t>
            </a:r>
            <a:r>
              <a:rPr lang="en-US" sz="2800" dirty="0">
                <a:latin typeface="Montserrat" panose="020B0604020202020204" charset="0"/>
              </a:rPr>
              <a:t> data. Salah </a:t>
            </a:r>
            <a:r>
              <a:rPr lang="en-US" sz="2800" dirty="0" err="1">
                <a:latin typeface="Montserrat" panose="020B0604020202020204" charset="0"/>
              </a:rPr>
              <a:t>satu</a:t>
            </a:r>
            <a:r>
              <a:rPr lang="en-US" sz="2800" dirty="0">
                <a:latin typeface="Montserrat" panose="020B0604020202020204" charset="0"/>
              </a:rPr>
              <a:t> parameter yang </a:t>
            </a:r>
            <a:r>
              <a:rPr lang="en-US" sz="2800" dirty="0" err="1">
                <a:latin typeface="Montserrat" panose="020B0604020202020204" charset="0"/>
              </a:rPr>
              <a:t>sering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digunakan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adalah</a:t>
            </a:r>
            <a:r>
              <a:rPr lang="en-US" sz="2800" dirty="0">
                <a:latin typeface="Montserrat" panose="020B0604020202020204" charset="0"/>
              </a:rPr>
              <a:t> parameter p (</a:t>
            </a:r>
            <a:r>
              <a:rPr lang="en-US" sz="2800" i="1" dirty="0">
                <a:latin typeface="Montserrat" panose="020B0604020202020204" charset="0"/>
              </a:rPr>
              <a:t>power parameter</a:t>
            </a:r>
            <a:r>
              <a:rPr lang="en-US" sz="2800" dirty="0">
                <a:latin typeface="Montserrat" panose="020B0604020202020204" charset="0"/>
              </a:rPr>
              <a:t>)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 err="1">
                <a:latin typeface="Montserrat" panose="020B0604020202020204" charset="0"/>
              </a:rPr>
              <a:t>minkowski</a:t>
            </a:r>
            <a:r>
              <a:rPr lang="en-US" sz="2800" i="1" dirty="0">
                <a:latin typeface="Montserrat" panose="020B0604020202020204" charset="0"/>
              </a:rPr>
              <a:t> distance.</a:t>
            </a:r>
            <a:endParaRPr lang="en-US" sz="2800" dirty="0">
              <a:latin typeface="Montserrat" panose="020B0604020202020204" charset="0"/>
            </a:endParaRPr>
          </a:p>
        </p:txBody>
      </p:sp>
      <p:sp>
        <p:nvSpPr>
          <p:cNvPr id="11" name="TextBox 14"/>
          <p:cNvSpPr txBox="1"/>
          <p:nvPr/>
        </p:nvSpPr>
        <p:spPr>
          <a:xfrm>
            <a:off x="751417" y="4837290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 smtClean="0">
                <a:solidFill>
                  <a:srgbClr val="08377C"/>
                </a:solidFill>
                <a:latin typeface="Montserrat" panose="020B0604020202020204" charset="0"/>
              </a:rPr>
              <a:t>5. </a:t>
            </a:r>
            <a:r>
              <a:rPr lang="en-US" sz="3200" b="1" dirty="0" err="1" smtClean="0">
                <a:solidFill>
                  <a:srgbClr val="08377C"/>
                </a:solidFill>
                <a:latin typeface="Montserrat" panose="020B0604020202020204" charset="0"/>
              </a:rPr>
              <a:t>Normalisasi</a:t>
            </a:r>
            <a:r>
              <a:rPr lang="en-US" sz="3200" b="1" dirty="0" smtClean="0">
                <a:solidFill>
                  <a:srgbClr val="08377C"/>
                </a:solidFill>
                <a:latin typeface="Montserrat" panose="020B0604020202020204" charset="0"/>
              </a:rPr>
              <a:t> Data</a:t>
            </a:r>
            <a:endParaRPr lang="en-US" sz="3200" b="1" dirty="0">
              <a:solidFill>
                <a:srgbClr val="08377C"/>
              </a:solidFill>
              <a:latin typeface="Montserrat" panose="020B06040202020202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2999" y="5284578"/>
            <a:ext cx="1496182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Montserrat" panose="020B0604020202020204" charset="0"/>
              </a:rPr>
              <a:t>Normalisasi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adalah</a:t>
            </a:r>
            <a:r>
              <a:rPr lang="en-US" sz="2800" dirty="0">
                <a:latin typeface="Montserrat" panose="020B0604020202020204" charset="0"/>
              </a:rPr>
              <a:t> proses </a:t>
            </a:r>
            <a:r>
              <a:rPr lang="en-US" sz="2800" dirty="0" err="1">
                <a:latin typeface="Montserrat" panose="020B0604020202020204" charset="0"/>
              </a:rPr>
              <a:t>menyesuaikan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skala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fitur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sehingga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fitur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berada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rentang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serupa</a:t>
            </a:r>
            <a:r>
              <a:rPr lang="en-US" sz="2800" dirty="0">
                <a:latin typeface="Montserrat" panose="020B0604020202020204" charset="0"/>
              </a:rPr>
              <a:t> agar </a:t>
            </a:r>
            <a:r>
              <a:rPr lang="en-US" sz="2800" dirty="0" err="1">
                <a:latin typeface="Montserrat" panose="020B0604020202020204" charset="0"/>
              </a:rPr>
              <a:t>perhitungan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menjadi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 smtClean="0">
                <a:latin typeface="Montserrat" panose="020B0604020202020204" charset="0"/>
              </a:rPr>
              <a:t>adil</a:t>
            </a:r>
            <a:r>
              <a:rPr lang="en-US" sz="2800" dirty="0" smtClean="0">
                <a:latin typeface="Montserrat" panose="020B0604020202020204" charset="0"/>
              </a:rPr>
              <a:t>, </a:t>
            </a:r>
            <a:r>
              <a:rPr lang="en-US" sz="2800" dirty="0">
                <a:latin typeface="Montserrat" panose="020B0604020202020204" charset="0"/>
              </a:rPr>
              <a:t>yang </a:t>
            </a:r>
            <a:r>
              <a:rPr lang="en-US" sz="2800" dirty="0" err="1">
                <a:latin typeface="Montserrat" panose="020B0604020202020204" charset="0"/>
              </a:rPr>
              <a:t>membantu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meningkatkan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akurasi</a:t>
            </a:r>
            <a:r>
              <a:rPr lang="en-US" sz="2800" dirty="0">
                <a:latin typeface="Montserrat" panose="020B0604020202020204" charset="0"/>
              </a:rPr>
              <a:t> model KNN.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20B0604020202020204" charset="0"/>
              </a:rPr>
              <a:t>Ada </a:t>
            </a:r>
            <a:r>
              <a:rPr lang="en-US" sz="2800" dirty="0" err="1">
                <a:latin typeface="Montserrat" panose="020B0604020202020204" charset="0"/>
              </a:rPr>
              <a:t>dua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teknik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umum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normalisasi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pada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algoritma</a:t>
            </a:r>
            <a:r>
              <a:rPr lang="en-US" sz="2800" dirty="0">
                <a:latin typeface="Montserrat" panose="020B0604020202020204" charset="0"/>
              </a:rPr>
              <a:t> KNN </a:t>
            </a:r>
            <a:r>
              <a:rPr lang="en-US" sz="2800" dirty="0" err="1">
                <a:latin typeface="Montserrat" panose="020B0604020202020204" charset="0"/>
              </a:rPr>
              <a:t>sebagai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berikut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latin typeface="Montserrat" panose="020B0604020202020204" charset="0"/>
              </a:rPr>
              <a:t>Standardisasi</a:t>
            </a:r>
            <a:endParaRPr lang="en-US" sz="2800" dirty="0" smtClean="0">
              <a:latin typeface="Montserrat" panose="020B060402020202020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latin typeface="Montserrat" panose="020B0604020202020204" charset="0"/>
              </a:rPr>
              <a:t>Normalisasi</a:t>
            </a:r>
            <a:r>
              <a:rPr lang="en-US" sz="2800" b="1" dirty="0" smtClean="0">
                <a:latin typeface="Montserrat" panose="020B0604020202020204" charset="0"/>
              </a:rPr>
              <a:t> Min-Max</a:t>
            </a:r>
            <a:endParaRPr lang="en-US" sz="28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893387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 smtClean="0">
                <a:solidFill>
                  <a:srgbClr val="08377C"/>
                </a:solidFill>
                <a:latin typeface="Montserrat" panose="020B0604020202020204" charset="0"/>
              </a:rPr>
              <a:t>5. </a:t>
            </a:r>
            <a:r>
              <a:rPr lang="en-US" sz="3200" b="1" dirty="0" err="1" smtClean="0">
                <a:solidFill>
                  <a:srgbClr val="08377C"/>
                </a:solidFill>
                <a:latin typeface="Montserrat" panose="020B0604020202020204" charset="0"/>
              </a:rPr>
              <a:t>Algoritma</a:t>
            </a:r>
            <a:r>
              <a:rPr lang="en-US" sz="3200" b="1" dirty="0" smtClean="0">
                <a:solidFill>
                  <a:srgbClr val="08377C"/>
                </a:solidFill>
                <a:latin typeface="Montserrat" panose="020B0604020202020204" charset="0"/>
              </a:rPr>
              <a:t> </a:t>
            </a:r>
            <a:r>
              <a:rPr lang="en-US" sz="3200" b="1" dirty="0" err="1" smtClean="0">
                <a:solidFill>
                  <a:srgbClr val="08377C"/>
                </a:solidFill>
                <a:latin typeface="Montserrat" panose="020B0604020202020204" charset="0"/>
              </a:rPr>
              <a:t>Pencarian</a:t>
            </a:r>
            <a:r>
              <a:rPr lang="en-US" sz="3200" b="1" dirty="0" smtClean="0">
                <a:solidFill>
                  <a:srgbClr val="08377C"/>
                </a:solidFill>
                <a:latin typeface="Montserrat" panose="020B0604020202020204" charset="0"/>
              </a:rPr>
              <a:t> </a:t>
            </a:r>
            <a:r>
              <a:rPr lang="en-US" sz="3200" b="1" dirty="0" err="1" smtClean="0">
                <a:solidFill>
                  <a:srgbClr val="08377C"/>
                </a:solidFill>
                <a:latin typeface="Montserrat" panose="020B0604020202020204" charset="0"/>
              </a:rPr>
              <a:t>Tetangga</a:t>
            </a:r>
            <a:r>
              <a:rPr lang="en-US" sz="3200" b="1" dirty="0" smtClean="0">
                <a:solidFill>
                  <a:srgbClr val="08377C"/>
                </a:solidFill>
                <a:latin typeface="Montserrat" panose="020B0604020202020204" charset="0"/>
              </a:rPr>
              <a:t> (default = auto)</a:t>
            </a:r>
            <a:endParaRPr lang="en-US" sz="3200" b="1" dirty="0">
              <a:solidFill>
                <a:srgbClr val="08377C"/>
              </a:solidFill>
              <a:latin typeface="Montserrat" panose="020B06040202020202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43000" y="2028601"/>
            <a:ext cx="1496182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Montserrat" panose="020B0604020202020204" charset="0"/>
              </a:rPr>
              <a:t>Memilih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algoritma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pencarian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tepat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memengaruhi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kecepatan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efisiensi</a:t>
            </a:r>
            <a:r>
              <a:rPr lang="en-US" sz="2800" dirty="0">
                <a:latin typeface="Montserrat" panose="020B0604020202020204" charset="0"/>
              </a:rPr>
              <a:t> model KNN, </a:t>
            </a:r>
            <a:r>
              <a:rPr lang="en-US" sz="2800" dirty="0" err="1">
                <a:latin typeface="Montserrat" panose="020B0604020202020204" charset="0"/>
              </a:rPr>
              <a:t>terutama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dataset </a:t>
            </a:r>
            <a:r>
              <a:rPr lang="en-US" sz="2800" dirty="0" err="1">
                <a:latin typeface="Montserrat" panose="020B0604020202020204" charset="0"/>
              </a:rPr>
              <a:t>besar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atau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banyak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 smtClean="0">
                <a:latin typeface="Montserrat" panose="020B0604020202020204" charset="0"/>
              </a:rPr>
              <a:t>fitur</a:t>
            </a:r>
            <a:r>
              <a:rPr lang="en-US" sz="2800" dirty="0" smtClean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Montserrat" panose="020B0604020202020204" charset="0"/>
              </a:rPr>
              <a:t>Brute </a:t>
            </a:r>
            <a:r>
              <a:rPr lang="en-US" sz="2800" b="1" dirty="0">
                <a:latin typeface="Montserrat" panose="020B0604020202020204" charset="0"/>
              </a:rPr>
              <a:t>Force: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 smtClean="0">
                <a:latin typeface="Montserrat" panose="020B0604020202020204" charset="0"/>
              </a:rPr>
              <a:t>menghitung</a:t>
            </a:r>
            <a:r>
              <a:rPr lang="en-US" sz="2800" dirty="0" smtClean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antara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baru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setiap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titik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dataset </a:t>
            </a:r>
            <a:r>
              <a:rPr lang="en-US" sz="2800" dirty="0" err="1">
                <a:latin typeface="Montserrat" panose="020B0604020202020204" charset="0"/>
              </a:rPr>
              <a:t>pelatihan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secara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langsung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bisa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sangat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lambat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dataset </a:t>
            </a:r>
            <a:r>
              <a:rPr lang="en-US" sz="2800" dirty="0" err="1">
                <a:latin typeface="Montserrat" panose="020B0604020202020204" charset="0"/>
              </a:rPr>
              <a:t>besar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karena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kompleksitas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waktu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tinggi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20B0604020202020204" charset="0"/>
              </a:rPr>
              <a:t>KD-Tree: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struktur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mempercepat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pencarian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terdekat</a:t>
            </a:r>
            <a:r>
              <a:rPr lang="en-US" sz="2800" dirty="0" smtClean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Montserrat" panose="020B0604020202020204" charset="0"/>
              </a:rPr>
              <a:t>Ball-Tree</a:t>
            </a:r>
            <a:r>
              <a:rPr lang="en-US" sz="2800" b="1" dirty="0">
                <a:latin typeface="Montserrat" panose="020B0604020202020204" charset="0"/>
              </a:rPr>
              <a:t>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Struktur</a:t>
            </a:r>
            <a:r>
              <a:rPr lang="en-US" sz="2800" dirty="0">
                <a:latin typeface="Montserrat" panose="020B0604020202020204" charset="0"/>
              </a:rPr>
              <a:t> data yang </a:t>
            </a:r>
            <a:r>
              <a:rPr lang="en-US" sz="2800" dirty="0" err="1">
                <a:latin typeface="Montserrat" panose="020B0604020202020204" charset="0"/>
              </a:rPr>
              <a:t>membagi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ruang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fitur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menggunakan</a:t>
            </a:r>
            <a:r>
              <a:rPr lang="en-US" sz="2800" dirty="0">
                <a:latin typeface="Montserrat" panose="020B0604020202020204" charset="0"/>
              </a:rPr>
              <a:t> volume </a:t>
            </a:r>
            <a:r>
              <a:rPr lang="en-US" sz="2800" dirty="0" err="1">
                <a:latin typeface="Montserrat" panose="020B0604020202020204" charset="0"/>
              </a:rPr>
              <a:t>berbasis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partisi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cocok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berdimensi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tinggi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performa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pencarian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baik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dibandingkan</a:t>
            </a:r>
            <a:r>
              <a:rPr lang="en-US" sz="2800" dirty="0">
                <a:latin typeface="Montserrat" panose="020B0604020202020204" charset="0"/>
              </a:rPr>
              <a:t> KD-Tree</a:t>
            </a:r>
            <a:r>
              <a:rPr lang="en-US" sz="2800" dirty="0" smtClean="0">
                <a:latin typeface="Montserrat" panose="020B0604020202020204" charset="0"/>
              </a:rPr>
              <a:t>.</a:t>
            </a:r>
            <a:endParaRPr lang="en-US" sz="28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0812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</a:t>
            </a:r>
            <a:r>
              <a:rPr lang="en-US" sz="5792" b="1" spc="191" dirty="0" err="1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Kerja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?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0242" name="Picture 2" descr="dos-2d4c20e4889463df266e8e32368b1fd320241015141900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9"/>
          <a:stretch/>
        </p:blipFill>
        <p:spPr bwMode="auto">
          <a:xfrm>
            <a:off x="1905000" y="2933700"/>
            <a:ext cx="12945267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512465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</a:t>
            </a:r>
            <a:r>
              <a:rPr lang="en-US" sz="5792" b="1" spc="191" dirty="0" err="1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Kerja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?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0242" name="Picture 2" descr="dos-2d4c20e4889463df266e8e32368b1fd320241015141900.jpe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9"/>
          <a:stretch/>
        </p:blipFill>
        <p:spPr bwMode="auto">
          <a:xfrm>
            <a:off x="1908879" y="3156488"/>
            <a:ext cx="5867400" cy="269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 descr="dos-08b36051633c21ba24c38e8001b3c73d20241015141900.jpe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9" r="17021"/>
          <a:stretch/>
        </p:blipFill>
        <p:spPr bwMode="auto">
          <a:xfrm>
            <a:off x="8458200" y="3476033"/>
            <a:ext cx="5122593" cy="676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urved Connector 10"/>
          <p:cNvCxnSpPr>
            <a:endCxn id="16386" idx="1"/>
          </p:cNvCxnSpPr>
          <p:nvPr/>
        </p:nvCxnSpPr>
        <p:spPr>
          <a:xfrm>
            <a:off x="5261679" y="5381953"/>
            <a:ext cx="3196521" cy="147489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19982" y="2512436"/>
            <a:ext cx="7799027" cy="963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 err="1">
                <a:latin typeface="Montserrat" panose="020B0604020202020204" charset="0"/>
              </a:rPr>
              <a:t>Contohnya</a:t>
            </a:r>
            <a:r>
              <a:rPr lang="en-US" sz="2000" dirty="0">
                <a:latin typeface="Montserrat" panose="020B0604020202020204" charset="0"/>
              </a:rPr>
              <a:t>,</a:t>
            </a:r>
            <a:r>
              <a:rPr lang="en-US" sz="2000" b="1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jika</a:t>
            </a:r>
            <a:r>
              <a:rPr lang="en-US" sz="2000" dirty="0">
                <a:latin typeface="Montserrat" panose="020B0604020202020204" charset="0"/>
              </a:rPr>
              <a:t> K = 3, KNN </a:t>
            </a:r>
            <a:r>
              <a:rPr lang="en-US" sz="2000" dirty="0" err="1">
                <a:latin typeface="Montserrat" panose="020B0604020202020204" charset="0"/>
              </a:rPr>
              <a:t>akan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memilih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tiga</a:t>
            </a:r>
            <a:r>
              <a:rPr lang="en-US" sz="2000" dirty="0">
                <a:latin typeface="Montserrat" panose="020B0604020202020204" charset="0"/>
              </a:rPr>
              <a:t> data yang paling </a:t>
            </a:r>
            <a:r>
              <a:rPr lang="en-US" sz="2000" dirty="0" err="1">
                <a:latin typeface="Montserrat" panose="020B0604020202020204" charset="0"/>
              </a:rPr>
              <a:t>dekat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dengan</a:t>
            </a:r>
            <a:r>
              <a:rPr lang="en-US" sz="2000" dirty="0">
                <a:latin typeface="Montserrat" panose="020B0604020202020204" charset="0"/>
              </a:rPr>
              <a:t> data </a:t>
            </a:r>
            <a:r>
              <a:rPr lang="en-US" sz="2000" dirty="0" err="1">
                <a:latin typeface="Montserrat" panose="020B0604020202020204" charset="0"/>
              </a:rPr>
              <a:t>baru</a:t>
            </a:r>
            <a:r>
              <a:rPr lang="en-US" sz="2000" dirty="0" smtClean="0">
                <a:latin typeface="Montserrat" panose="020B0604020202020204" charset="0"/>
              </a:rPr>
              <a:t>.</a:t>
            </a:r>
            <a:endParaRPr lang="en-US" sz="20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6691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80F6CF4D-7C7B-604E-BBCB-110DD1EE24C2}"/>
              </a:ext>
            </a:extLst>
          </p:cNvPr>
          <p:cNvSpPr txBox="1"/>
          <p:nvPr/>
        </p:nvSpPr>
        <p:spPr>
          <a:xfrm>
            <a:off x="2819400" y="1333500"/>
            <a:ext cx="11468714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Kelebihan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dan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Kekurangan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</a:t>
            </a: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?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518303"/>
              </p:ext>
            </p:extLst>
          </p:nvPr>
        </p:nvGraphicFramePr>
        <p:xfrm>
          <a:off x="2362200" y="3390900"/>
          <a:ext cx="12192000" cy="6212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/>
                <a:gridCol w="6096000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 err="1" smtClean="0">
                          <a:latin typeface="Montserrat" panose="020B0604020202020204" charset="0"/>
                        </a:rPr>
                        <a:t>Kelebihan</a:t>
                      </a:r>
                      <a:r>
                        <a:rPr lang="en-US" sz="2000" b="1" dirty="0" smtClean="0">
                          <a:latin typeface="Montserrat" panose="020B0604020202020204" charset="0"/>
                        </a:rPr>
                        <a:t> </a:t>
                      </a:r>
                      <a:endParaRPr lang="en-US" sz="2000" b="1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 err="1" smtClean="0">
                          <a:latin typeface="Montserrat" panose="020B0604020202020204" charset="0"/>
                        </a:rPr>
                        <a:t>Kekurangan</a:t>
                      </a:r>
                      <a:r>
                        <a:rPr lang="en-US" sz="2000" b="1" dirty="0" smtClean="0">
                          <a:latin typeface="Montserrat" panose="020B0604020202020204" charset="0"/>
                        </a:rPr>
                        <a:t> </a:t>
                      </a:r>
                      <a:endParaRPr lang="en-US" sz="2000" b="1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>
                          <a:effectLst/>
                          <a:latin typeface="Montserrat" panose="020B0604020202020204" charset="0"/>
                        </a:rPr>
                        <a:t>Simpel dan Intuitif: mudah dipahami dan diimplementasikan tanpa banyak asumsi.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Komputasi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Berat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untuk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Dataset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Besar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: 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perhitungan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jarak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untuk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setiap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prediksi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membuat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KNN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lambat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pada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dataset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besar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nn-NO" b="0">
                          <a:effectLst/>
                          <a:latin typeface="Montserrat" panose="020B0604020202020204" charset="0"/>
                        </a:rPr>
                        <a:t>Non-parametrik: tidak mengasumsikan distribusi data tertentu, cocok untuk berbagai jenis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>
                          <a:effectLst/>
                          <a:latin typeface="Montserrat" panose="020B0604020202020204" charset="0"/>
                        </a:rPr>
                        <a:t>Sensitif terhadap Noise: data yang tidak sesuai atau fitur yang tidak relevan dapat menurunkan akurasi prediksi.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>
                          <a:effectLst/>
                          <a:latin typeface="Montserrat" panose="020B0604020202020204" charset="0"/>
                        </a:rPr>
                        <a:t>Efektif untuk Dataset Kecil: ideal untuk dataset kecil dengan interpretasi langsung dan hasil cepat.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>
                          <a:effectLst/>
                          <a:latin typeface="Montserrat" panose="020B0604020202020204" charset="0"/>
                        </a:rPr>
                        <a:t>Memori Intensif: membutuhkan penyimpanan seluruh dataset pelatihan dalam memori, meningkatkan kebutuhan memori pada dataset besar.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>
                          <a:effectLst/>
                          <a:latin typeface="Montserrat" panose="020B0604020202020204" charset="0"/>
                        </a:rPr>
                        <a:t>Simpel dan Intuitif: mudah dipahami dan diimplementasikan tanpa banyak asumsi.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Komputasi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Berat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untuk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Dataset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Besar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: 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perhitungan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jarak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untuk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setiap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prediksi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membuat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KNN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lambat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pada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dataset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besar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9498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xmlns="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xmlns="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88229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 smtClean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Evaluation</a:t>
            </a:r>
            <a:endParaRPr lang="en-US" sz="5035" b="1" u="none" strike="noStrike" spc="181" dirty="0">
              <a:solidFill>
                <a:srgbClr val="2A2E3A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xmlns="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</a:t>
            </a:r>
            <a:r>
              <a:rPr lang="en-US" sz="6792" b="1" spc="224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xmlns="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xmlns="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 smtClean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0000" spc="9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34200240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1D0640-848B-11D7-939C-2C48B4B0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xmlns="" id="{AD83CA35-CA94-BC52-42CC-FADD18C25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427" y="1709779"/>
            <a:ext cx="15240000" cy="821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A762A2BA-59B1-03C5-9470-2DED2D97BC66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E167E9E9-A588-7DAC-1E96-358313BD2F4A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EC9B78A8-F688-7E32-F073-5F502AA7F5F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722EA420-4B47-FF25-8D3F-21C252E8CC5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CD1C99D7-5D78-D0B1-22A7-2C2B2687146A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09769B32-9E9C-7E53-6CEF-22F00ABCB157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Serupa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tapi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tak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sama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  <p:extLst>
      <p:ext uri="{BB962C8B-B14F-4D97-AF65-F5344CB8AC3E}">
        <p14:creationId xmlns:p14="http://schemas.microsoft.com/office/powerpoint/2010/main" val="2032243480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Confusion Matrix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93228" y="3314700"/>
            <a:ext cx="75438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1" dirty="0">
                <a:latin typeface="Montserrat" panose="020B0604020202020204" charset="0"/>
              </a:rPr>
              <a:t>Confusion matrix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adalah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alat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mengevaluasi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kinerja</a:t>
            </a:r>
            <a:r>
              <a:rPr lang="en-US" sz="2800" dirty="0">
                <a:latin typeface="Montserrat" panose="020B0604020202020204" charset="0"/>
              </a:rPr>
              <a:t> model </a:t>
            </a:r>
            <a:r>
              <a:rPr lang="en-US" sz="2800" dirty="0" err="1">
                <a:latin typeface="Montserrat" panose="020B0604020202020204" charset="0"/>
              </a:rPr>
              <a:t>klasifikasi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menunjukkan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jumlah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prediksi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benar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salah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format </a:t>
            </a:r>
            <a:r>
              <a:rPr lang="en-US" sz="2800" dirty="0" err="1">
                <a:latin typeface="Montserrat" panose="020B0604020202020204" charset="0"/>
              </a:rPr>
              <a:t>tabel</a:t>
            </a:r>
            <a:r>
              <a:rPr lang="en-US" sz="2800" dirty="0">
                <a:latin typeface="Montserrat" panose="020B0604020202020204" charset="0"/>
              </a:rPr>
              <a:t>. </a:t>
            </a:r>
            <a:endParaRPr lang="en-US" sz="2800" dirty="0" smtClean="0">
              <a:latin typeface="Montserrat" panose="020B0604020202020204" charset="0"/>
            </a:endParaRPr>
          </a:p>
        </p:txBody>
      </p:sp>
      <p:pic>
        <p:nvPicPr>
          <p:cNvPr id="17410" name="Picture 2" descr="dos-ad83c262ee2432f5fedfa32b2a19c69b20241015153232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0" t="21149" r="14785"/>
          <a:stretch/>
        </p:blipFill>
        <p:spPr bwMode="auto">
          <a:xfrm>
            <a:off x="714606" y="2857500"/>
            <a:ext cx="6875359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143000" y="7193537"/>
            <a:ext cx="15163800" cy="188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" panose="020B0604020202020204" charset="0"/>
              </a:rPr>
              <a:t>True Positives (TP):</a:t>
            </a:r>
            <a:r>
              <a:rPr lang="en-US" sz="2000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jumlah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kasus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positif</a:t>
            </a:r>
            <a:r>
              <a:rPr lang="en-US" sz="2000" dirty="0">
                <a:latin typeface="Montserrat" panose="020B0604020202020204" charset="0"/>
              </a:rPr>
              <a:t> yang </a:t>
            </a:r>
            <a:r>
              <a:rPr lang="en-US" sz="2000" dirty="0" err="1">
                <a:latin typeface="Montserrat" panose="020B0604020202020204" charset="0"/>
              </a:rPr>
              <a:t>benar-benar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diprediksi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positif</a:t>
            </a:r>
            <a:r>
              <a:rPr lang="en-US" sz="20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" panose="020B0604020202020204" charset="0"/>
              </a:rPr>
              <a:t>True Negatives (TN):</a:t>
            </a:r>
            <a:r>
              <a:rPr lang="en-US" sz="2000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jumlah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kasus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negatif</a:t>
            </a:r>
            <a:r>
              <a:rPr lang="en-US" sz="2000" dirty="0">
                <a:latin typeface="Montserrat" panose="020B0604020202020204" charset="0"/>
              </a:rPr>
              <a:t> yang </a:t>
            </a:r>
            <a:r>
              <a:rPr lang="en-US" sz="2000" dirty="0" err="1">
                <a:latin typeface="Montserrat" panose="020B0604020202020204" charset="0"/>
              </a:rPr>
              <a:t>benar-benar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diprediksi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negatif</a:t>
            </a:r>
            <a:r>
              <a:rPr lang="en-US" sz="20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" panose="020B0604020202020204" charset="0"/>
              </a:rPr>
              <a:t>False Positives (FP):</a:t>
            </a:r>
            <a:r>
              <a:rPr lang="en-US" sz="2000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jumlah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kasus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negatif</a:t>
            </a:r>
            <a:r>
              <a:rPr lang="en-US" sz="2000" dirty="0">
                <a:latin typeface="Montserrat" panose="020B0604020202020204" charset="0"/>
              </a:rPr>
              <a:t> yang </a:t>
            </a:r>
            <a:r>
              <a:rPr lang="en-US" sz="2000" dirty="0" err="1">
                <a:latin typeface="Montserrat" panose="020B0604020202020204" charset="0"/>
              </a:rPr>
              <a:t>diprediksi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positif</a:t>
            </a:r>
            <a:r>
              <a:rPr lang="en-US" sz="2000" dirty="0">
                <a:latin typeface="Montserrat" panose="020B0604020202020204" charset="0"/>
              </a:rPr>
              <a:t> (</a:t>
            </a:r>
            <a:r>
              <a:rPr lang="en-US" sz="2000" dirty="0" err="1">
                <a:latin typeface="Montserrat" panose="020B0604020202020204" charset="0"/>
              </a:rPr>
              <a:t>juga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dikenal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kesalahan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tipe</a:t>
            </a:r>
            <a:r>
              <a:rPr lang="en-US" sz="2000" dirty="0">
                <a:latin typeface="Montserrat" panose="020B0604020202020204" charset="0"/>
              </a:rPr>
              <a:t> I).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" panose="020B0604020202020204" charset="0"/>
              </a:rPr>
              <a:t>False Negatives (FN):</a:t>
            </a:r>
            <a:r>
              <a:rPr lang="en-US" sz="2000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jumlah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kasus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positif</a:t>
            </a:r>
            <a:r>
              <a:rPr lang="en-US" sz="2000" dirty="0">
                <a:latin typeface="Montserrat" panose="020B0604020202020204" charset="0"/>
              </a:rPr>
              <a:t> yang </a:t>
            </a:r>
            <a:r>
              <a:rPr lang="en-US" sz="2000" dirty="0" err="1">
                <a:latin typeface="Montserrat" panose="020B0604020202020204" charset="0"/>
              </a:rPr>
              <a:t>diprediksi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negatif</a:t>
            </a:r>
            <a:r>
              <a:rPr lang="en-US" sz="2000" dirty="0">
                <a:latin typeface="Montserrat" panose="020B0604020202020204" charset="0"/>
              </a:rPr>
              <a:t> (</a:t>
            </a:r>
            <a:r>
              <a:rPr lang="en-US" sz="2000" dirty="0" err="1">
                <a:latin typeface="Montserrat" panose="020B0604020202020204" charset="0"/>
              </a:rPr>
              <a:t>juga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dikenal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kesalahan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tipe</a:t>
            </a:r>
            <a:r>
              <a:rPr lang="en-US" sz="2000" dirty="0">
                <a:latin typeface="Montserrat" panose="020B0604020202020204" charset="0"/>
              </a:rPr>
              <a:t> II).</a:t>
            </a:r>
          </a:p>
        </p:txBody>
      </p:sp>
    </p:spTree>
    <p:extLst>
      <p:ext uri="{BB962C8B-B14F-4D97-AF65-F5344CB8AC3E}">
        <p14:creationId xmlns:p14="http://schemas.microsoft.com/office/powerpoint/2010/main" val="134783534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smtClean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Confusion Matrix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9458" name="Picture 2" descr="dos-80cbb62ff55204a33c9e4d575569a6a520241015153232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7" t="6537" r="4839" b="7180"/>
          <a:stretch/>
        </p:blipFill>
        <p:spPr bwMode="auto">
          <a:xfrm>
            <a:off x="225597" y="3213100"/>
            <a:ext cx="80772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966853"/>
              </p:ext>
            </p:extLst>
          </p:nvPr>
        </p:nvGraphicFramePr>
        <p:xfrm>
          <a:off x="8458200" y="2837180"/>
          <a:ext cx="8001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99"/>
                <a:gridCol w="2133600"/>
                <a:gridCol w="3048001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Montserrat" panose="020B0604020202020204" charset="0"/>
                        </a:rPr>
                        <a:t>Prediksi</a:t>
                      </a:r>
                      <a:r>
                        <a:rPr lang="en-US" dirty="0" smtClean="0">
                          <a:latin typeface="Montserrat" panose="020B0604020202020204" charset="0"/>
                        </a:rPr>
                        <a:t> Spam</a:t>
                      </a:r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Montserrat" panose="020B0604020202020204" charset="0"/>
                        </a:rPr>
                        <a:t>Prediksi</a:t>
                      </a:r>
                      <a:r>
                        <a:rPr lang="en-US" dirty="0" smtClean="0">
                          <a:latin typeface="Montserrat" panose="020B0604020202020204" charset="0"/>
                        </a:rPr>
                        <a:t> </a:t>
                      </a:r>
                      <a:r>
                        <a:rPr lang="en-US" dirty="0" err="1" smtClean="0">
                          <a:latin typeface="Montserrat" panose="020B0604020202020204" charset="0"/>
                        </a:rPr>
                        <a:t>Bukan</a:t>
                      </a:r>
                      <a:r>
                        <a:rPr lang="en-US" dirty="0" smtClean="0">
                          <a:latin typeface="Montserrat" panose="020B0604020202020204" charset="0"/>
                        </a:rPr>
                        <a:t> Spam</a:t>
                      </a:r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Montserrat" panose="020B0604020202020204" charset="0"/>
                        </a:rPr>
                        <a:t>Spam Actual</a:t>
                      </a:r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Montserrat" panose="020B0604020202020204" charset="0"/>
                        </a:rPr>
                        <a:t>30</a:t>
                      </a:r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Montserrat" panose="020B0604020202020204" charset="0"/>
                        </a:rPr>
                        <a:t>10</a:t>
                      </a:r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Montserrat" panose="020B0604020202020204" charset="0"/>
                        </a:rPr>
                        <a:t>Bukan</a:t>
                      </a:r>
                      <a:r>
                        <a:rPr lang="en-US" dirty="0" smtClean="0">
                          <a:latin typeface="Montserrat" panose="020B0604020202020204" charset="0"/>
                        </a:rPr>
                        <a:t> Spam Actual</a:t>
                      </a:r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Montserrat" panose="020B0604020202020204" charset="0"/>
                        </a:rPr>
                        <a:t>10</a:t>
                      </a:r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Montserrat" panose="020B0604020202020204" charset="0"/>
                        </a:rPr>
                        <a:t>50</a:t>
                      </a:r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4598432"/>
            <a:ext cx="4996328" cy="1219200"/>
          </a:xfrm>
          <a:prstGeom prst="rect">
            <a:avLst/>
          </a:prstGeom>
        </p:spPr>
      </p:pic>
      <p:cxnSp>
        <p:nvCxnSpPr>
          <p:cNvPr id="22" name="Curved Connector 21"/>
          <p:cNvCxnSpPr>
            <a:endCxn id="13" idx="1"/>
          </p:cNvCxnSpPr>
          <p:nvPr/>
        </p:nvCxnSpPr>
        <p:spPr>
          <a:xfrm flipV="1">
            <a:off x="8229600" y="5208032"/>
            <a:ext cx="1828800" cy="9144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058400" y="42291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Montserrat" panose="020B0604020202020204" charset="0"/>
              </a:rPr>
              <a:t>Example : </a:t>
            </a:r>
            <a:endParaRPr lang="en-US" b="1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9999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AD9CB6-F362-4BE6-70E8-9376BF2D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BFEFF1E9-5E3B-21ED-E895-D82661911A28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BF9DE36D-1CA3-032A-0F40-FB01839AC4F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14571C7-A5F5-6477-2667-903A3A80D6E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3ACB24A5-DD46-7222-03CA-34FFF1BAB37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xmlns="" id="{97E01675-4D66-4F94-805A-F00AC34F87CF}"/>
              </a:ext>
            </a:extLst>
          </p:cNvPr>
          <p:cNvSpPr txBox="1"/>
          <p:nvPr/>
        </p:nvSpPr>
        <p:spPr>
          <a:xfrm>
            <a:off x="6083684" y="1257300"/>
            <a:ext cx="5211826" cy="93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Reference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46B2E8D7-FBE4-16BA-BBCF-92EE3826DAC6}"/>
              </a:ext>
            </a:extLst>
          </p:cNvPr>
          <p:cNvSpPr txBox="1"/>
          <p:nvPr/>
        </p:nvSpPr>
        <p:spPr>
          <a:xfrm>
            <a:off x="767595" y="2919347"/>
            <a:ext cx="15844005" cy="1627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Nils. J. Nilson, 1998, </a:t>
            </a:r>
            <a:r>
              <a:rPr lang="en-US" sz="2800" b="0" i="0" dirty="0" err="1">
                <a:solidFill>
                  <a:srgbClr val="074364"/>
                </a:solidFill>
                <a:effectLst/>
                <a:latin typeface="Raleway" pitchFamily="2" charset="0"/>
              </a:rPr>
              <a:t>Intoduction</a:t>
            </a: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 to Machine Learning, Department of Computer Science, </a:t>
            </a:r>
            <a:r>
              <a:rPr lang="en-US" sz="2800" b="0" i="0" dirty="0" err="1">
                <a:solidFill>
                  <a:srgbClr val="074364"/>
                </a:solidFill>
                <a:effectLst/>
                <a:latin typeface="Raleway" pitchFamily="2" charset="0"/>
              </a:rPr>
              <a:t>Standford</a:t>
            </a: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 University, Last </a:t>
            </a:r>
            <a:r>
              <a:rPr lang="en-US" sz="2800" b="0" i="0" dirty="0" smtClean="0">
                <a:solidFill>
                  <a:srgbClr val="074364"/>
                </a:solidFill>
                <a:effectLst/>
                <a:latin typeface="Raleway" pitchFamily="2" charset="0"/>
              </a:rPr>
              <a:t>Edition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dirty="0" err="1" smtClean="0">
                <a:solidFill>
                  <a:srgbClr val="074364"/>
                </a:solidFill>
                <a:latin typeface="Raleway" pitchFamily="2" charset="0"/>
              </a:rPr>
              <a:t>Dicoding</a:t>
            </a:r>
            <a:r>
              <a:rPr lang="en-US" sz="2800" dirty="0" smtClean="0">
                <a:solidFill>
                  <a:srgbClr val="074364"/>
                </a:solidFill>
                <a:latin typeface="Raleway" pitchFamily="2" charset="0"/>
              </a:rPr>
              <a:t> – </a:t>
            </a:r>
            <a:r>
              <a:rPr lang="en-US" sz="2800" dirty="0" err="1" smtClean="0">
                <a:solidFill>
                  <a:srgbClr val="074364"/>
                </a:solidFill>
                <a:latin typeface="Raleway" pitchFamily="2" charset="0"/>
              </a:rPr>
              <a:t>Belajar</a:t>
            </a:r>
            <a:r>
              <a:rPr lang="en-US" sz="2800" dirty="0" smtClean="0">
                <a:solidFill>
                  <a:srgbClr val="074364"/>
                </a:solidFill>
                <a:latin typeface="Raleway" pitchFamily="2" charset="0"/>
              </a:rPr>
              <a:t> Machine Learning </a:t>
            </a:r>
            <a:r>
              <a:rPr lang="en-US" sz="2800" dirty="0" err="1" smtClean="0">
                <a:solidFill>
                  <a:srgbClr val="074364"/>
                </a:solidFill>
                <a:latin typeface="Raleway" pitchFamily="2" charset="0"/>
              </a:rPr>
              <a:t>untuk</a:t>
            </a:r>
            <a:r>
              <a:rPr lang="en-US" sz="2800" dirty="0" smtClean="0">
                <a:solidFill>
                  <a:srgbClr val="074364"/>
                </a:solidFill>
                <a:latin typeface="Raleway" pitchFamily="2" charset="0"/>
              </a:rPr>
              <a:t> </a:t>
            </a:r>
            <a:r>
              <a:rPr lang="en-US" sz="2800" dirty="0" err="1" smtClean="0">
                <a:solidFill>
                  <a:srgbClr val="074364"/>
                </a:solidFill>
                <a:latin typeface="Raleway" pitchFamily="2" charset="0"/>
              </a:rPr>
              <a:t>Pemula</a:t>
            </a:r>
            <a:endParaRPr lang="en-US" sz="2800" b="0" dirty="0">
              <a:solidFill>
                <a:srgbClr val="074364"/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5468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A65651E-1151-844A-6B1B-56FCF577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4DE8CEC6-418C-E4AF-357F-3805B8E55B11}"/>
              </a:ext>
            </a:extLst>
          </p:cNvPr>
          <p:cNvGrpSpPr/>
          <p:nvPr/>
        </p:nvGrpSpPr>
        <p:grpSpPr>
          <a:xfrm>
            <a:off x="1" y="9340175"/>
            <a:ext cx="18288000" cy="946825"/>
            <a:chOff x="0" y="0"/>
            <a:chExt cx="6110362" cy="2651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7584C945-D063-D83F-EF83-BCD4040DF6E2}"/>
                </a:ext>
              </a:extLst>
            </p:cNvPr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815E530F-4D57-E19B-13D6-FA0D4A75B307}"/>
                </a:ext>
              </a:extLst>
            </p:cNvPr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1E692EF2-E34C-51B4-8577-1DDACBC2C2F9}"/>
              </a:ext>
            </a:extLst>
          </p:cNvPr>
          <p:cNvGrpSpPr/>
          <p:nvPr/>
        </p:nvGrpSpPr>
        <p:grpSpPr>
          <a:xfrm>
            <a:off x="1" y="0"/>
            <a:ext cx="18288000" cy="946824"/>
            <a:chOff x="0" y="0"/>
            <a:chExt cx="6110362" cy="4936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5DD44FC5-F6E0-D90E-A112-81E802B58314}"/>
                </a:ext>
              </a:extLst>
            </p:cNvPr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93D5E564-4AEC-6CB8-5F3D-4BA2472F3C31}"/>
                </a:ext>
              </a:extLst>
            </p:cNvPr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5A1B7F6B-1D3B-6D68-F767-8A297E98107D}"/>
              </a:ext>
            </a:extLst>
          </p:cNvPr>
          <p:cNvSpPr txBox="1"/>
          <p:nvPr/>
        </p:nvSpPr>
        <p:spPr>
          <a:xfrm>
            <a:off x="4734204" y="3627935"/>
            <a:ext cx="8819592" cy="1771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64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6320017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3199</TotalTime>
  <Words>771</Words>
  <Application>Microsoft Office PowerPoint</Application>
  <PresentationFormat>Custom</PresentationFormat>
  <Paragraphs>165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Aptos</vt:lpstr>
      <vt:lpstr>Montserrat</vt:lpstr>
      <vt:lpstr>Montserrat Bold</vt:lpstr>
      <vt:lpstr>Raleway</vt:lpstr>
      <vt:lpstr>Calibri</vt:lpstr>
      <vt:lpstr>Montserrat Classic</vt:lpstr>
      <vt:lpstr>Montserrat Classic Bold</vt:lpstr>
      <vt:lpstr>Open Sans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</dc:title>
  <dc:creator>M S I</dc:creator>
  <cp:lastModifiedBy>Naura</cp:lastModifiedBy>
  <cp:revision>43</cp:revision>
  <dcterms:created xsi:type="dcterms:W3CDTF">2006-08-16T00:00:00Z</dcterms:created>
  <dcterms:modified xsi:type="dcterms:W3CDTF">2025-03-25T07:45:15Z</dcterms:modified>
  <dc:identifier>DAGWy-tLfhM</dc:identifier>
</cp:coreProperties>
</file>